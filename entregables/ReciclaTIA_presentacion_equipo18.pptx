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TCwGltJEalume/J1F4K8KkJ4A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00:22</a:t>
            </a:r>
            <a:br>
              <a:rPr lang="en-US"/>
            </a:br>
            <a:br>
              <a:rPr lang="en-US"/>
            </a:br>
            <a:r>
              <a:rPr lang="en-US"/>
              <a:t>GUION ORAL</a:t>
            </a:r>
            <a:br>
              <a:rPr lang="en-US"/>
            </a:br>
            <a:r>
              <a:rPr lang="en-US"/>
              <a:t>ReciclaTIA parte de una pregunta muy concreta: dónde depositar un residuo en Madrid. En este segundo Project Break, el objetivo ya no era construir otro buscador documental, sino convertir el RAG anterior en una herramienta dentro de un sistema multiagente, con orquestación, trazabilidad y revisión humana.</a:t>
            </a:r>
            <a:br>
              <a:rPr lang="en-US"/>
            </a:br>
            <a:br>
              <a:rPr lang="en-US"/>
            </a:br>
            <a:r>
              <a:rPr lang="en-US"/>
              <a:t>No profundizar en el RAG: dar paso directo a la arquitectura.</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00:23</a:t>
            </a:r>
            <a:br>
              <a:rPr lang="en-US"/>
            </a:br>
            <a:br>
              <a:rPr lang="en-US"/>
            </a:br>
            <a:r>
              <a:rPr lang="en-US"/>
              <a:t>GUION ORAL</a:t>
            </a:r>
            <a:br>
              <a:rPr lang="en-US"/>
            </a:br>
            <a:r>
              <a:rPr lang="en-US"/>
              <a:t>El primer proyecto resolvía recuperación y generación con documentos municipales. Aquí he preservado ese RAG como un módulo independiente, accesible también desde terminal, y he añadido una capa de decisiones. El supervisor determina qué especialista interviene y cuándo se consulta una herramienta. El despliegue MLOps queda fuera del alcance actual.</a:t>
            </a:r>
            <a:br>
              <a:rPr lang="en-US"/>
            </a:br>
            <a:br>
              <a:rPr lang="en-US"/>
            </a:b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00:40</a:t>
            </a:r>
            <a:br>
              <a:rPr lang="en-US"/>
            </a:br>
            <a:br>
              <a:rPr lang="en-US"/>
            </a:br>
            <a:r>
              <a:rPr lang="en-US"/>
              <a:t>GUION ORAL</a:t>
            </a:r>
            <a:br>
              <a:rPr lang="en-US"/>
            </a:br>
            <a:r>
              <a:rPr lang="en-US"/>
              <a:t>El grafo tiene cinco nodos: supervisor, residuos, puntos, sintetizar y aplicar. El supervisor identifica qué capacidades necesita cada consulta. Si solo hay que clasificar un objeto, no activa el especialista geográfico; si se pregunta por una pila y un punto cercano, intervienen ambos. Cada especialista vuelve al supervisor. Cuando ya existe una respuesta y un plan válido, el grafo se pausa realmente antes de aplicar, a la espera de una decisión humana.</a:t>
            </a:r>
            <a:br>
              <a:rPr lang="en-US"/>
            </a:br>
            <a:br>
              <a:rPr lang="en-US"/>
            </a:br>
            <a:r>
              <a:rPr lang="en-US"/>
              <a:t>El grafo se muestra como ruta funcional: hay aristas de retorno al supervisor tras cada especialista y también tras sintetizar.</a:t>
            </a:r>
            <a:endParaRPr/>
          </a:p>
        </p:txBody>
      </p:sp>
      <p:sp>
        <p:nvSpPr>
          <p:cNvPr id="78" name="Google Shape;7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00:37</a:t>
            </a:r>
            <a:br>
              <a:rPr lang="en-US"/>
            </a:br>
            <a:br>
              <a:rPr lang="en-US"/>
            </a:br>
            <a:r>
              <a:rPr lang="en-US"/>
              <a:t>GUION ORAL</a:t>
            </a:r>
            <a:br>
              <a:rPr lang="en-US"/>
            </a:br>
            <a:r>
              <a:rPr lang="en-US"/>
              <a:t>La orquestación dispone de cuatro tools, pero no todos los agentes pueden llamarlas. Residuos utiliza el RAG y la descripción de imágenes. Puntos utiliza el RAG, la API municipal y la hora de Madrid. Un ejecutor central valida el nombre, los argumentos y los permisos por rol. Además, Python impone ocho decisiones máximas del supervisor, hasta ocho llamadas por especialista y doce por turno. El modelo puede proponer; no puede saltarse estas restricciones.</a:t>
            </a:r>
            <a:br>
              <a:rPr lang="en-US"/>
            </a:br>
            <a:br>
              <a:rPr lang="en-US"/>
            </a:br>
            <a:r>
              <a:rPr lang="en-US"/>
              <a:t>No confundir MAX_STEPS (rondas LLM) con tool calls; son presupuestos distintos.</a:t>
            </a:r>
            <a:endParaRPr/>
          </a:p>
        </p:txBody>
      </p:sp>
      <p:sp>
        <p:nvSpPr>
          <p:cNvPr id="93" name="Google Shape;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00:38</a:t>
            </a:r>
            <a:br>
              <a:rPr lang="en-US"/>
            </a:br>
            <a:br>
              <a:rPr lang="en-US"/>
            </a:br>
            <a:r>
              <a:rPr lang="en-US"/>
              <a:t>GUION ORAL</a:t>
            </a:r>
            <a:br>
              <a:rPr lang="en-US"/>
            </a:br>
            <a:r>
              <a:rPr lang="en-US"/>
              <a:t>Una decisión técnica importante fue separar la evidencia de la redacción. El RAG entrega fuentes y puede abstenerse; la API aporta lugares y distancias; la herramienta de hora permite comparar franjas publicadas, nunca garantizar una apertura real. La síntesis reúne estos resultados, y en casos sencillos utiliza rutas deterministas para evitar generaciones de Gemini innecesarias. Si la información es parcial, se indica; si es insuficiente, se pide aclaración o se abstiene. Un fallo técnico no se disfraza como una respuesta sin resultados.</a:t>
            </a:r>
            <a:br>
              <a:rPr lang="en-US"/>
            </a:br>
            <a:br>
              <a:rPr lang="en-US"/>
            </a:b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00:42</a:t>
            </a:r>
            <a:br>
              <a:rPr lang="en-US"/>
            </a:br>
            <a:br>
              <a:rPr lang="en-US"/>
            </a:br>
            <a:r>
              <a:rPr lang="en-US"/>
              <a:t>GUION ORAL</a:t>
            </a:r>
            <a:br>
              <a:rPr lang="en-US"/>
            </a:br>
            <a:r>
              <a:rPr lang="en-US"/>
              <a:t>El HITL se implementa en LangGraph con MemorySaver e interrupt_before sobre aplicar. La aplicación verifica que existe una interrupción real y que el plan mostrado coincide con el checkpoint. Si apruebo, se registra la decisión y done pasa a verdadero. Si rechazo, se retira el plan, se conserva el mismo thread_id y puedo reformular la consulta. Las evidencias anteriores no se reutilizan automáticamente. Esta memoria es del proceso: desaparece al reiniciar el servidor. Y aplicar solo registra la decisión; no realiza acciones físicas.</a:t>
            </a:r>
            <a:br>
              <a:rPr lang="en-US"/>
            </a:br>
            <a:br>
              <a:rPr lang="en-US"/>
            </a:b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00:39</a:t>
            </a:r>
            <a:br>
              <a:rPr lang="en-US"/>
            </a:br>
            <a:br>
              <a:rPr lang="en-US"/>
            </a:br>
            <a:r>
              <a:rPr lang="en-US"/>
              <a:t>GUION ORAL</a:t>
            </a:r>
            <a:br>
              <a:rPr lang="en-US"/>
            </a:br>
            <a:r>
              <a:rPr lang="en-US"/>
              <a:t>La aplicación web y la CLI no contienen dos agentes distintos: ambas consumen procesar_turno y aprobar_plan de src.agent. El estado del grafo se presenta como chat, fuentes, mapas y un panel de diagnóstico con log de nodos y traza de tools. El repositorio separa código, especificaciones y tests, e incluye instrucciones para reconstruir el índice y ejecutar los dos clientes. Esa modularidad permite verificar el comportamiento sin depender de Streamlit y documentar decisiones mediante especificaciones y pruebas.</a:t>
            </a:r>
            <a:br>
              <a:rPr lang="en-US"/>
            </a:br>
            <a:br>
              <a:rPr lang="en-US"/>
            </a:br>
            <a:r>
              <a:rPr lang="en-US"/>
              <a:t>En el vídeo pueden verse las trazas; si piden Git, abrir repositorio.</a:t>
            </a:r>
            <a:endParaRPr/>
          </a:p>
        </p:txBody>
      </p:sp>
      <p:sp>
        <p:nvSpPr>
          <p:cNvPr id="188" name="Google Shape;1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00:41</a:t>
            </a:r>
            <a:br>
              <a:rPr lang="en-US"/>
            </a:br>
            <a:br>
              <a:rPr lang="en-US"/>
            </a:br>
            <a:r>
              <a:rPr lang="en-US"/>
              <a:t>GUION ORAL</a:t>
            </a:r>
            <a:br>
              <a:rPr lang="en-US"/>
            </a:br>
            <a:r>
              <a:rPr lang="en-US"/>
              <a:t>Tres riesgos reales guiaron las correcciones: resultados semánticos de una modalidad de punto limpio equivocada, listas incompletas por interpretar el top-k como catálogo completo y horarios o citas asociados al registro incorrecto. Las respuestas incorporan filtros, consultas estructuradas y validación de evidencias. La aplicación sigue limitada a Madrid ciudad: calcula distancias en línea recta, no rutas; la memoria no persiste en disco y depende de Gemini y de la API municipal. La siguiente fase sería persistencia real y actualización controlada de datos.</a:t>
            </a:r>
            <a:br>
              <a:rPr lang="en-US"/>
            </a:br>
            <a:br>
              <a:rPr lang="en-US"/>
            </a:br>
            <a:r>
              <a:rPr lang="en-US"/>
              <a:t>No cuantificar mejoras sin ejecuciones medidas. Son riesgos documentados y tratamientos implementados.</a:t>
            </a:r>
            <a:endParaRPr/>
          </a:p>
        </p:txBody>
      </p:sp>
      <p:sp>
        <p:nvSpPr>
          <p:cNvPr id="220" name="Google Shape;22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0:55</a:t>
            </a:r>
            <a:br>
              <a:rPr lang="en-US"/>
            </a:br>
            <a:br>
              <a:rPr lang="en-US"/>
            </a:br>
            <a:r>
              <a:rPr lang="en-US"/>
              <a:t>GUION ORAL</a:t>
            </a:r>
            <a:br>
              <a:rPr lang="en-US"/>
            </a:br>
            <a:r>
              <a:rPr lang="en-US"/>
              <a:t>Primero, una consulta sencilla de reciclaje. La respuesta se apoya en documentación y deja visibles sus fuentes. El sistema prepara un plan y se detiene: al aprobarlo, registra la decisión y cierra el hilo. Lo importante es que no se marca como finalizado antes del HITL.</a:t>
            </a:r>
            <a:br>
              <a:rPr lang="en-US"/>
            </a:br>
            <a:br>
              <a:rPr lang="en-US"/>
            </a:br>
            <a:r>
              <a:rPr lang="en-US"/>
              <a:t>INSTRUCCIÓN DE MONTAJE: Colocar el vídeo sobre el rectángulo interior, ancho 9.99 pulgadas, alto 5.62, x=1.67, y=1.51. Reproducción al hacer clic; idealmente usar MP4 H.264. Comprobar que se ve una consulta real, sus fuentes y el cambio de done tras aprobar.</a:t>
            </a:r>
            <a:endParaRPr/>
          </a:p>
        </p:txBody>
      </p:sp>
      <p:sp>
        <p:nvSpPr>
          <p:cNvPr id="256" name="Google Shape;2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1:25</a:t>
            </a:r>
            <a:br>
              <a:rPr lang="en-US"/>
            </a:br>
            <a:br>
              <a:rPr lang="en-US"/>
            </a:br>
            <a:r>
              <a:rPr lang="en-US"/>
              <a:t>GUION ORAL</a:t>
            </a:r>
            <a:br>
              <a:rPr lang="en-US"/>
            </a:br>
            <a:r>
              <a:rPr lang="en-US"/>
              <a:t>En esta petición compuesta hacen falta dos tipos de trabajo. El especialista de residuos consulta el RAG; el de puntos obtiene ubicaciones y contrasta, cuando procede, los horarios publicados con la hora de Madrid. La traza deja ver qué herramientas se ejecutan y de qué fuente proceden los resultados. Las distancias son geográficas, no itinerarios.</a:t>
            </a:r>
            <a:br>
              <a:rPr lang="en-US"/>
            </a:br>
            <a:br>
              <a:rPr lang="en-US"/>
            </a:br>
            <a:r>
              <a:rPr lang="en-US"/>
              <a:t>INSTRUCCIÓN DE MONTAJE: Colocar el vídeo sobre el rectángulo interior, ancho 9.99 pulgadas, alto 5.62, x=1.67, y=1.51. Reproducción al hacer clic; idealmente usar MP4 H.264. Detenerse brevemente en Log del grafo y Traza de herramientas; señalar RAG, API y hora si aparecen.</a:t>
            </a:r>
            <a:endParaRPr/>
          </a:p>
        </p:txBody>
      </p:sp>
      <p:sp>
        <p:nvSpPr>
          <p:cNvPr id="268" name="Google Shape;26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1:00</a:t>
            </a:r>
            <a:br>
              <a:rPr lang="en-US"/>
            </a:br>
            <a:br>
              <a:rPr lang="en-US"/>
            </a:br>
            <a:r>
              <a:rPr lang="en-US"/>
              <a:t>GUION ORAL</a:t>
            </a:r>
            <a:br>
              <a:rPr lang="en-US"/>
            </a:br>
            <a:r>
              <a:rPr lang="en-US"/>
              <a:t>Ahora incorporo una imagen desde Streamlit. El modelo visual describe lo que reconoce, pero esa descripción no autoriza a asignar automáticamente un contenedor. El agente utiliza después la fuente documental cuando necesita justificar el destino del residuo. En el diagnóstico podemos identificar la llamada a describir_imagen y las herramientas empleadas.</a:t>
            </a:r>
            <a:br>
              <a:rPr lang="en-US"/>
            </a:br>
            <a:br>
              <a:rPr lang="en-US"/>
            </a:br>
            <a:r>
              <a:rPr lang="en-US"/>
              <a:t>INSTRUCCIÓN DE MONTAJE: Colocar el vídeo sobre el rectángulo interior, ancho 9.99 pulgadas, alto 5.62, x=1.67, y=1.51. Reproducción al hacer clic; idealmente usar MP4 H.264. Mostrar el archivo subido, la respuesta y la traza de multimodalidad.</a:t>
            </a:r>
            <a:endParaRPr/>
          </a:p>
        </p:txBody>
      </p:sp>
      <p:sp>
        <p:nvSpPr>
          <p:cNvPr id="280" name="Google Shape;28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1:00</a:t>
            </a:r>
            <a:br>
              <a:rPr lang="en-US"/>
            </a:br>
            <a:br>
              <a:rPr lang="en-US"/>
            </a:br>
            <a:r>
              <a:rPr lang="en-US"/>
              <a:t>GUION ORAL</a:t>
            </a:r>
            <a:br>
              <a:rPr lang="en-US"/>
            </a:br>
            <a:r>
              <a:rPr lang="en-US"/>
              <a:t>Esta toma enseña la otra rama del HITL. Rechazo el plan inicial y el sistema no lo da por válido. Sin abrir una conversación nueva, reformulo el objeto; el siguiente turno utiliza el mismo identificador, pero reconstruye las evidencias. Así se mantiene el contexto conversacional sin arrastrar automáticamente como prueba la respuesta anterior.</a:t>
            </a:r>
            <a:br>
              <a:rPr lang="en-US"/>
            </a:br>
            <a:br>
              <a:rPr lang="en-US"/>
            </a:br>
            <a:r>
              <a:rPr lang="en-US"/>
              <a:t>INSTRUCCIÓN DE MONTAJE: Colocar el vídeo sobre el rectángulo interior, ancho 9.99 pulgadas, alto 5.62, x=1.67, y=1.51. Reproducción al hacer clic; idealmente usar MP4 H.264. Señalar el rechazo, luego la nueva consulta y el mismo thread_id.</a:t>
            </a:r>
            <a:endParaRPr/>
          </a:p>
        </p:txBody>
      </p:sp>
      <p:sp>
        <p:nvSpPr>
          <p:cNvPr id="292" name="Google Shape;2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0:40</a:t>
            </a:r>
            <a:br>
              <a:rPr lang="en-US"/>
            </a:br>
            <a:br>
              <a:rPr lang="en-US"/>
            </a:br>
            <a:r>
              <a:rPr lang="en-US"/>
              <a:t>GUION ORAL</a:t>
            </a:r>
            <a:br>
              <a:rPr lang="en-US"/>
            </a:br>
            <a:r>
              <a:rPr lang="en-US"/>
              <a:t>Por último, una prueba de límites: cuando el corpus no ofrece evidencias suficientes, el comportamiento correcto es reconocerlo y abstenerse o pedir precisión, no inventar un destino. El diagnóstico permite ver el estado de evidencia, la abstención, las llamadas realizadas y los límites aplicados desde Python.</a:t>
            </a:r>
            <a:br>
              <a:rPr lang="en-US"/>
            </a:br>
            <a:br>
              <a:rPr lang="en-US"/>
            </a:br>
            <a:r>
              <a:rPr lang="en-US"/>
              <a:t>INSTRUCCIÓN DE MONTAJE: Colocar el vídeo sobre el rectángulo interior, ancho 9.99 pulgadas, alto 5.62, x=1.67, y=1.51. Reproducción al hacer clic; idealmente usar MP4 H.264. Usar este texto solo si el quinto clip realmente enseña una abstención. Si es un clip de estado, ajustar el rótulo y comentario.</a:t>
            </a:r>
            <a:endParaRPr/>
          </a:p>
        </p:txBody>
      </p:sp>
      <p:sp>
        <p:nvSpPr>
          <p:cNvPr id="304" name="Google Shape;30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00:18</a:t>
            </a:r>
            <a:br>
              <a:rPr lang="en-US"/>
            </a:br>
            <a:br>
              <a:rPr lang="en-US"/>
            </a:br>
            <a:r>
              <a:rPr lang="en-US"/>
              <a:t>GUION ORAL</a:t>
            </a:r>
            <a:br>
              <a:rPr lang="en-US"/>
            </a:br>
            <a:r>
              <a:rPr lang="en-US"/>
              <a:t>En resumen: ReciclaTIA ya no es solamente un RAG. Es un sistema que delega tareas, exige evidencias, limita herramientas y necesita una decisión humana para cerrar cada plan. Esa es la aportación técnica central de este Project Break.</a:t>
            </a:r>
            <a:br>
              <a:rPr lang="en-US"/>
            </a:br>
            <a:br>
              <a:rPr lang="en-US"/>
            </a:br>
            <a:endParaRPr/>
          </a:p>
        </p:txBody>
      </p:sp>
      <p:sp>
        <p:nvSpPr>
          <p:cNvPr id="316" name="Google Shape;31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OPCIONAL</a:t>
            </a:r>
            <a:br>
              <a:rPr lang="en-US"/>
            </a:br>
            <a:br>
              <a:rPr lang="en-US"/>
            </a:br>
            <a:r>
              <a:rPr lang="en-US"/>
              <a:t>GUION ORAL</a:t>
            </a:r>
            <a:br>
              <a:rPr lang="en-US"/>
            </a:br>
            <a:r>
              <a:rPr lang="en-US"/>
              <a:t>Esta diapositiva es un anexo: abrirla solo si se solicita evidencia concreta de reproducibilidad, organización o pruebas.</a:t>
            </a:r>
            <a:br>
              <a:rPr lang="en-US"/>
            </a:br>
            <a:br>
              <a:rPr lang="en-US"/>
            </a:br>
            <a:endParaRPr/>
          </a:p>
        </p:txBody>
      </p:sp>
      <p:sp>
        <p:nvSpPr>
          <p:cNvPr id="337" name="Google Shape;3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OBJETIVO: OPCIONAL</a:t>
            </a:r>
            <a:br>
              <a:rPr lang="en-US"/>
            </a:br>
            <a:br>
              <a:rPr lang="en-US"/>
            </a:br>
            <a:r>
              <a:rPr lang="en-US"/>
              <a:t>GUION ORAL</a:t>
            </a:r>
            <a:br>
              <a:rPr lang="en-US"/>
            </a:br>
            <a:r>
              <a:rPr lang="en-US"/>
              <a:t>Estas rutas representan pruebas del repositorio; no afirmar un número concreto de tests aprobados si no se ha ejecutado la suite sobre la rama presentada.</a:t>
            </a:r>
            <a:br>
              <a:rPr lang="en-US"/>
            </a:br>
            <a:br>
              <a:rPr lang="en-US"/>
            </a:br>
            <a:endParaRPr/>
          </a:p>
        </p:txBody>
      </p:sp>
      <p:sp>
        <p:nvSpPr>
          <p:cNvPr id="361" name="Google Shape;36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08111F"/>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zxKvQjvkmMFnfBbCBjTELY8lviv0KRnP/view" TargetMode="Externa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drive.google.com/file/d/1IxVJssWAh-7k4ohBjbloqsyCx2_eRsF3/view" TargetMode="Externa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7pAz9E6KelCiV4yOoV4E82FPJz7lr0jo/view" TargetMode="Externa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drive.google.com/file/d/1MXwxULP4cIVDKPOVmiKwzB00vYq1TVdY/view" TargetMode="Externa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drive.google.com/file/d/1VTmaZofWTZEdIp7SY9_Vx2I-j3RmmhX4/view" TargetMode="Externa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16" name="Shape 16"/>
        <p:cNvGrpSpPr/>
        <p:nvPr/>
      </p:nvGrpSpPr>
      <p:grpSpPr>
        <a:xfrm>
          <a:off x="0" y="0"/>
          <a:ext cx="0" cy="0"/>
          <a:chOff x="0" y="0"/>
          <a:chExt cx="0" cy="0"/>
        </a:xfrm>
      </p:grpSpPr>
      <p:cxnSp>
        <p:nvCxnSpPr>
          <p:cNvPr id="17" name="Google Shape;17;p1"/>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18" name="Google Shape;18;p1"/>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19" name="Google Shape;19;p1"/>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t/>
            </a:r>
            <a:endParaRPr b="0" i="0" sz="840" u="none" cap="none" strike="noStrike">
              <a:solidFill>
                <a:schemeClr val="dk1"/>
              </a:solidFill>
              <a:latin typeface="Inter"/>
              <a:ea typeface="Inter"/>
              <a:cs typeface="Inter"/>
              <a:sym typeface="Inter"/>
            </a:endParaRPr>
          </a:p>
        </p:txBody>
      </p:sp>
      <p:sp>
        <p:nvSpPr>
          <p:cNvPr id="20" name="Google Shape;20;p1"/>
          <p:cNvSpPr/>
          <p:nvPr/>
        </p:nvSpPr>
        <p:spPr>
          <a:xfrm rot="5400000">
            <a:off x="7360920" y="777240"/>
            <a:ext cx="4754880" cy="4754880"/>
          </a:xfrm>
          <a:prstGeom prst="arc">
            <a:avLst>
              <a:gd fmla="val 16200000" name="adj1"/>
              <a:gd fmla="val 0" name="adj2"/>
            </a:avLst>
          </a:prstGeom>
          <a:solidFill>
            <a:srgbClr val="08111F">
              <a:alpha val="0"/>
            </a:srgbClr>
          </a:solidFill>
          <a:ln cap="flat" cmpd="sng" w="38100">
            <a:solidFill>
              <a:srgbClr val="1A4E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1"/>
          <p:cNvCxnSpPr>
            <a:endCxn id="22" idx="2"/>
          </p:cNvCxnSpPr>
          <p:nvPr/>
        </p:nvCxnSpPr>
        <p:spPr>
          <a:xfrm rot="10800000">
            <a:off x="7845552" y="1636776"/>
            <a:ext cx="1801500" cy="1398900"/>
          </a:xfrm>
          <a:prstGeom prst="straightConnector1">
            <a:avLst/>
          </a:prstGeom>
          <a:noFill/>
          <a:ln cap="flat" cmpd="sng" w="22850">
            <a:solidFill>
              <a:srgbClr val="2A4156"/>
            </a:solidFill>
            <a:prstDash val="solid"/>
            <a:round/>
            <a:headEnd len="sm" w="sm" type="none"/>
            <a:tailEnd len="sm" w="sm" type="none"/>
          </a:ln>
        </p:spPr>
      </p:cxnSp>
      <p:sp>
        <p:nvSpPr>
          <p:cNvPr id="23" name="Google Shape;23;p1"/>
          <p:cNvSpPr/>
          <p:nvPr/>
        </p:nvSpPr>
        <p:spPr>
          <a:xfrm>
            <a:off x="7492298" y="1202425"/>
            <a:ext cx="609300" cy="589800"/>
          </a:xfrm>
          <a:prstGeom prst="ellipse">
            <a:avLst/>
          </a:prstGeom>
          <a:solidFill>
            <a:srgbClr val="BB9DFF"/>
          </a:solidFill>
          <a:ln cap="flat" cmpd="sng" w="12700">
            <a:solidFill>
              <a:srgbClr val="BB9D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 name="Google Shape;24;p1"/>
          <p:cNvCxnSpPr/>
          <p:nvPr/>
        </p:nvCxnSpPr>
        <p:spPr>
          <a:xfrm flipH="1" rot="10800000">
            <a:off x="9669770" y="1636633"/>
            <a:ext cx="1261800" cy="1362600"/>
          </a:xfrm>
          <a:prstGeom prst="straightConnector1">
            <a:avLst/>
          </a:prstGeom>
          <a:noFill/>
          <a:ln cap="flat" cmpd="sng" w="22850">
            <a:solidFill>
              <a:srgbClr val="2A4156"/>
            </a:solidFill>
            <a:prstDash val="solid"/>
            <a:round/>
            <a:headEnd len="sm" w="sm" type="none"/>
            <a:tailEnd len="sm" w="sm" type="none"/>
          </a:ln>
        </p:spPr>
      </p:cxnSp>
      <p:sp>
        <p:nvSpPr>
          <p:cNvPr id="25" name="Google Shape;25;p1"/>
          <p:cNvSpPr/>
          <p:nvPr/>
        </p:nvSpPr>
        <p:spPr>
          <a:xfrm>
            <a:off x="10652747" y="1339574"/>
            <a:ext cx="609300" cy="589800"/>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 name="Google Shape;26;p1"/>
          <p:cNvCxnSpPr/>
          <p:nvPr/>
        </p:nvCxnSpPr>
        <p:spPr>
          <a:xfrm flipH="1">
            <a:off x="7955280" y="3035808"/>
            <a:ext cx="1691640" cy="1472184"/>
          </a:xfrm>
          <a:prstGeom prst="straightConnector1">
            <a:avLst/>
          </a:prstGeom>
          <a:noFill/>
          <a:ln cap="flat" cmpd="sng" w="22850">
            <a:solidFill>
              <a:srgbClr val="2A4156"/>
            </a:solidFill>
            <a:prstDash val="solid"/>
            <a:round/>
            <a:headEnd len="sm" w="sm" type="none"/>
            <a:tailEnd len="sm" w="sm" type="none"/>
          </a:ln>
        </p:spPr>
      </p:cxnSp>
      <p:sp>
        <p:nvSpPr>
          <p:cNvPr id="27" name="Google Shape;27;p1"/>
          <p:cNvSpPr/>
          <p:nvPr/>
        </p:nvSpPr>
        <p:spPr>
          <a:xfrm>
            <a:off x="7479795" y="4251946"/>
            <a:ext cx="731400" cy="704100"/>
          </a:xfrm>
          <a:prstGeom prst="ellipse">
            <a:avLst/>
          </a:prstGeom>
          <a:solidFill>
            <a:srgbClr val="B8FE6D"/>
          </a:solidFill>
          <a:ln cap="flat" cmpd="sng" w="12700">
            <a:solidFill>
              <a:srgbClr val="B8FE6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 name="Google Shape;28;p1"/>
          <p:cNvCxnSpPr/>
          <p:nvPr/>
        </p:nvCxnSpPr>
        <p:spPr>
          <a:xfrm>
            <a:off x="9646920" y="3035808"/>
            <a:ext cx="1307592" cy="1408176"/>
          </a:xfrm>
          <a:prstGeom prst="straightConnector1">
            <a:avLst/>
          </a:prstGeom>
          <a:noFill/>
          <a:ln cap="flat" cmpd="sng" w="22850">
            <a:solidFill>
              <a:srgbClr val="2A4156"/>
            </a:solidFill>
            <a:prstDash val="solid"/>
            <a:round/>
            <a:headEnd len="sm" w="sm" type="none"/>
            <a:tailEnd len="sm" w="sm" type="none"/>
          </a:ln>
        </p:spPr>
      </p:cxnSp>
      <p:sp>
        <p:nvSpPr>
          <p:cNvPr id="29" name="Google Shape;29;p1"/>
          <p:cNvSpPr/>
          <p:nvPr/>
        </p:nvSpPr>
        <p:spPr>
          <a:xfrm>
            <a:off x="10698480" y="4187952"/>
            <a:ext cx="512064" cy="512064"/>
          </a:xfrm>
          <a:prstGeom prst="ellipse">
            <a:avLst/>
          </a:prstGeom>
          <a:solidFill>
            <a:srgbClr val="FFCB79"/>
          </a:solidFill>
          <a:ln cap="flat" cmpd="sng" w="12700">
            <a:solidFill>
              <a:srgbClr val="FFCB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685800" y="1188720"/>
            <a:ext cx="2148840" cy="347472"/>
          </a:xfrm>
          <a:prstGeom prst="roundRect">
            <a:avLst>
              <a:gd fmla="val 31579" name="adj"/>
            </a:avLst>
          </a:prstGeom>
          <a:solidFill>
            <a:srgbClr val="193239"/>
          </a:solidFill>
          <a:ln cap="flat" cmpd="sng" w="12700">
            <a:solidFill>
              <a:srgbClr val="1932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832104" y="1202436"/>
            <a:ext cx="1856232"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1030"/>
              <a:buFont typeface="Inter"/>
              <a:buNone/>
            </a:pPr>
            <a:r>
              <a:rPr b="1" i="0" lang="en-US" sz="1030" u="none" cap="none" strike="noStrike">
                <a:solidFill>
                  <a:srgbClr val="B8FE6D"/>
                </a:solidFill>
                <a:latin typeface="Inter"/>
                <a:ea typeface="Inter"/>
                <a:cs typeface="Inter"/>
                <a:sym typeface="Inter"/>
              </a:rPr>
              <a:t>PROJECT BREAK 02</a:t>
            </a:r>
            <a:endParaRPr b="0" i="0" sz="1030" u="none" cap="none" strike="noStrike">
              <a:solidFill>
                <a:schemeClr val="dk1"/>
              </a:solidFill>
              <a:latin typeface="Inter"/>
              <a:ea typeface="Inter"/>
              <a:cs typeface="Inter"/>
              <a:sym typeface="Inter"/>
            </a:endParaRPr>
          </a:p>
        </p:txBody>
      </p:sp>
      <p:sp>
        <p:nvSpPr>
          <p:cNvPr id="32" name="Google Shape;32;p1"/>
          <p:cNvSpPr/>
          <p:nvPr/>
        </p:nvSpPr>
        <p:spPr>
          <a:xfrm>
            <a:off x="640080" y="1938528"/>
            <a:ext cx="7223760" cy="9601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6300"/>
              <a:buFont typeface="Inter"/>
              <a:buNone/>
            </a:pPr>
            <a:r>
              <a:rPr b="1" i="0" lang="en-US" sz="6300" u="none" cap="none" strike="noStrike">
                <a:solidFill>
                  <a:srgbClr val="F3F8FB"/>
                </a:solidFill>
                <a:latin typeface="Inter"/>
                <a:ea typeface="Inter"/>
                <a:cs typeface="Inter"/>
                <a:sym typeface="Inter"/>
              </a:rPr>
              <a:t>ReciclaTIA</a:t>
            </a:r>
            <a:endParaRPr b="0" i="0" sz="6300" u="none" cap="none" strike="noStrike">
              <a:solidFill>
                <a:schemeClr val="dk1"/>
              </a:solidFill>
              <a:latin typeface="Inter"/>
              <a:ea typeface="Inter"/>
              <a:cs typeface="Inter"/>
              <a:sym typeface="Inter"/>
            </a:endParaRPr>
          </a:p>
        </p:txBody>
      </p:sp>
      <p:sp>
        <p:nvSpPr>
          <p:cNvPr id="33" name="Google Shape;33;p1"/>
          <p:cNvSpPr/>
          <p:nvPr/>
        </p:nvSpPr>
        <p:spPr>
          <a:xfrm>
            <a:off x="713232" y="3145536"/>
            <a:ext cx="6400800" cy="1280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2650"/>
              <a:buFont typeface="Inter"/>
              <a:buNone/>
            </a:pPr>
            <a:r>
              <a:rPr b="0" i="0" lang="en-US" sz="2650" u="none" cap="none" strike="noStrike">
                <a:solidFill>
                  <a:srgbClr val="B8CAD5"/>
                </a:solidFill>
                <a:latin typeface="Inter"/>
                <a:ea typeface="Inter"/>
                <a:cs typeface="Inter"/>
                <a:sym typeface="Inter"/>
              </a:rPr>
              <a:t>Del RAG a un sistema multiagente</a:t>
            </a:r>
            <a:endParaRPr b="0" i="0" sz="265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B8CAD5"/>
              </a:buClr>
              <a:buSzPts val="2650"/>
              <a:buFont typeface="Inter"/>
              <a:buNone/>
            </a:pPr>
            <a:r>
              <a:rPr b="0" i="0" lang="en-US" sz="2650" u="none" cap="none" strike="noStrike">
                <a:solidFill>
                  <a:srgbClr val="B8CAD5"/>
                </a:solidFill>
                <a:latin typeface="Inter"/>
                <a:ea typeface="Inter"/>
                <a:cs typeface="Inter"/>
                <a:sym typeface="Inter"/>
              </a:rPr>
              <a:t>controlado con LangGraph</a:t>
            </a:r>
            <a:endParaRPr b="0" i="0" sz="2650" u="none" cap="none" strike="noStrike">
              <a:solidFill>
                <a:schemeClr val="dk1"/>
              </a:solidFill>
              <a:latin typeface="Inter"/>
              <a:ea typeface="Inter"/>
              <a:cs typeface="Inter"/>
              <a:sym typeface="Inter"/>
            </a:endParaRPr>
          </a:p>
        </p:txBody>
      </p:sp>
      <p:cxnSp>
        <p:nvCxnSpPr>
          <p:cNvPr id="34" name="Google Shape;34;p1"/>
          <p:cNvCxnSpPr/>
          <p:nvPr/>
        </p:nvCxnSpPr>
        <p:spPr>
          <a:xfrm>
            <a:off x="704088" y="4956048"/>
            <a:ext cx="6016752" cy="0"/>
          </a:xfrm>
          <a:prstGeom prst="straightConnector1">
            <a:avLst/>
          </a:prstGeom>
          <a:noFill/>
          <a:ln cap="flat" cmpd="sng" w="13950">
            <a:solidFill>
              <a:srgbClr val="2A4156"/>
            </a:solidFill>
            <a:prstDash val="solid"/>
            <a:round/>
            <a:headEnd len="sm" w="sm" type="none"/>
            <a:tailEnd len="sm" w="sm" type="none"/>
          </a:ln>
        </p:spPr>
      </p:cxnSp>
      <p:sp>
        <p:nvSpPr>
          <p:cNvPr id="35" name="Google Shape;35;p1"/>
          <p:cNvSpPr/>
          <p:nvPr/>
        </p:nvSpPr>
        <p:spPr>
          <a:xfrm>
            <a:off x="704088" y="5285232"/>
            <a:ext cx="73152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3000"/>
              <a:buFont typeface="Inter"/>
              <a:buNone/>
            </a:pPr>
            <a:r>
              <a:rPr b="1" i="0" lang="en-US" sz="3000" u="none" cap="none" strike="noStrike">
                <a:solidFill>
                  <a:srgbClr val="20D9B2"/>
                </a:solidFill>
                <a:latin typeface="Inter"/>
                <a:ea typeface="Inter"/>
                <a:cs typeface="Inter"/>
                <a:sym typeface="Inter"/>
              </a:rPr>
              <a:t>02</a:t>
            </a:r>
            <a:endParaRPr b="0" i="0" sz="3000" u="none" cap="none" strike="noStrike">
              <a:solidFill>
                <a:schemeClr val="dk1"/>
              </a:solidFill>
              <a:latin typeface="Inter"/>
              <a:ea typeface="Inter"/>
              <a:cs typeface="Inter"/>
              <a:sym typeface="Inter"/>
            </a:endParaRPr>
          </a:p>
        </p:txBody>
      </p:sp>
      <p:sp>
        <p:nvSpPr>
          <p:cNvPr id="36" name="Google Shape;36;p1"/>
          <p:cNvSpPr/>
          <p:nvPr/>
        </p:nvSpPr>
        <p:spPr>
          <a:xfrm>
            <a:off x="1380744" y="5404104"/>
            <a:ext cx="1490472"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050"/>
              <a:buFont typeface="Inter"/>
              <a:buNone/>
            </a:pPr>
            <a:r>
              <a:rPr b="1" i="0" lang="en-US" sz="1050" u="none" cap="none" strike="noStrike">
                <a:solidFill>
                  <a:srgbClr val="B8CAD5"/>
                </a:solidFill>
                <a:latin typeface="Inter"/>
                <a:ea typeface="Inter"/>
                <a:cs typeface="Inter"/>
                <a:sym typeface="Inter"/>
              </a:rPr>
              <a:t>ESPECIALISTAS</a:t>
            </a:r>
            <a:endParaRPr b="0" i="0" sz="1050" u="none" cap="none" strike="noStrike">
              <a:solidFill>
                <a:schemeClr val="dk1"/>
              </a:solidFill>
              <a:latin typeface="Inter"/>
              <a:ea typeface="Inter"/>
              <a:cs typeface="Inter"/>
              <a:sym typeface="Inter"/>
            </a:endParaRPr>
          </a:p>
        </p:txBody>
      </p:sp>
      <p:sp>
        <p:nvSpPr>
          <p:cNvPr id="37" name="Google Shape;37;p1"/>
          <p:cNvSpPr/>
          <p:nvPr/>
        </p:nvSpPr>
        <p:spPr>
          <a:xfrm>
            <a:off x="2807208" y="5285232"/>
            <a:ext cx="73152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3000"/>
              <a:buFont typeface="Inter"/>
              <a:buNone/>
            </a:pPr>
            <a:r>
              <a:rPr b="1" i="0" lang="en-US" sz="3000" u="none" cap="none" strike="noStrike">
                <a:solidFill>
                  <a:srgbClr val="B8FE6D"/>
                </a:solidFill>
                <a:latin typeface="Inter"/>
                <a:ea typeface="Inter"/>
                <a:cs typeface="Inter"/>
                <a:sym typeface="Inter"/>
              </a:rPr>
              <a:t>04</a:t>
            </a:r>
            <a:endParaRPr b="0" i="0" sz="3000" u="none" cap="none" strike="noStrike">
              <a:solidFill>
                <a:schemeClr val="dk1"/>
              </a:solidFill>
              <a:latin typeface="Inter"/>
              <a:ea typeface="Inter"/>
              <a:cs typeface="Inter"/>
              <a:sym typeface="Inter"/>
            </a:endParaRPr>
          </a:p>
        </p:txBody>
      </p:sp>
      <p:sp>
        <p:nvSpPr>
          <p:cNvPr id="38" name="Google Shape;38;p1"/>
          <p:cNvSpPr/>
          <p:nvPr/>
        </p:nvSpPr>
        <p:spPr>
          <a:xfrm>
            <a:off x="3483864" y="5404104"/>
            <a:ext cx="1490472"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050"/>
              <a:buFont typeface="Inter"/>
              <a:buNone/>
            </a:pPr>
            <a:r>
              <a:rPr b="1" i="0" lang="en-US" sz="1050" u="none" cap="none" strike="noStrike">
                <a:solidFill>
                  <a:srgbClr val="B8CAD5"/>
                </a:solidFill>
                <a:latin typeface="Inter"/>
                <a:ea typeface="Inter"/>
                <a:cs typeface="Inter"/>
                <a:sym typeface="Inter"/>
              </a:rPr>
              <a:t>TOOLS</a:t>
            </a:r>
            <a:endParaRPr b="0" i="0" sz="1050" u="none" cap="none" strike="noStrike">
              <a:solidFill>
                <a:schemeClr val="dk1"/>
              </a:solidFill>
              <a:latin typeface="Inter"/>
              <a:ea typeface="Inter"/>
              <a:cs typeface="Inter"/>
              <a:sym typeface="Inter"/>
            </a:endParaRPr>
          </a:p>
        </p:txBody>
      </p:sp>
      <p:sp>
        <p:nvSpPr>
          <p:cNvPr id="39" name="Google Shape;39;p1"/>
          <p:cNvSpPr/>
          <p:nvPr/>
        </p:nvSpPr>
        <p:spPr>
          <a:xfrm>
            <a:off x="4910328" y="5285232"/>
            <a:ext cx="73152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B9DFF"/>
              </a:buClr>
              <a:buSzPts val="3000"/>
              <a:buFont typeface="Inter"/>
              <a:buNone/>
            </a:pPr>
            <a:r>
              <a:rPr b="1" i="0" lang="en-US" sz="3000" u="none" cap="none" strike="noStrike">
                <a:solidFill>
                  <a:srgbClr val="BB9DFF"/>
                </a:solidFill>
                <a:latin typeface="Inter"/>
                <a:ea typeface="Inter"/>
                <a:cs typeface="Inter"/>
                <a:sym typeface="Inter"/>
              </a:rPr>
              <a:t>01</a:t>
            </a:r>
            <a:endParaRPr b="0" i="0" sz="3000" u="none" cap="none" strike="noStrike">
              <a:solidFill>
                <a:schemeClr val="dk1"/>
              </a:solidFill>
              <a:latin typeface="Inter"/>
              <a:ea typeface="Inter"/>
              <a:cs typeface="Inter"/>
              <a:sym typeface="Inter"/>
            </a:endParaRPr>
          </a:p>
        </p:txBody>
      </p:sp>
      <p:sp>
        <p:nvSpPr>
          <p:cNvPr id="40" name="Google Shape;40;p1"/>
          <p:cNvSpPr/>
          <p:nvPr/>
        </p:nvSpPr>
        <p:spPr>
          <a:xfrm>
            <a:off x="5586984" y="5404104"/>
            <a:ext cx="1490472"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050"/>
              <a:buFont typeface="Inter"/>
              <a:buNone/>
            </a:pPr>
            <a:r>
              <a:rPr b="1" i="0" lang="en-US" sz="1050" u="none" cap="none" strike="noStrike">
                <a:solidFill>
                  <a:srgbClr val="B8CAD5"/>
                </a:solidFill>
                <a:latin typeface="Inter"/>
                <a:ea typeface="Inter"/>
                <a:cs typeface="Inter"/>
                <a:sym typeface="Inter"/>
              </a:rPr>
              <a:t>HITL</a:t>
            </a:r>
            <a:endParaRPr b="0" i="0" sz="1050" u="none" cap="none" strike="noStrike">
              <a:solidFill>
                <a:schemeClr val="dk1"/>
              </a:solidFill>
              <a:latin typeface="Inter"/>
              <a:ea typeface="Inter"/>
              <a:cs typeface="Inter"/>
              <a:sym typeface="Inter"/>
            </a:endParaRPr>
          </a:p>
        </p:txBody>
      </p:sp>
      <p:sp>
        <p:nvSpPr>
          <p:cNvPr id="41" name="Google Shape;41;p1"/>
          <p:cNvSpPr/>
          <p:nvPr/>
        </p:nvSpPr>
        <p:spPr>
          <a:xfrm>
            <a:off x="9055981" y="2500805"/>
            <a:ext cx="1115700" cy="1115700"/>
          </a:xfrm>
          <a:prstGeom prst="ellipse">
            <a:avLst/>
          </a:prstGeom>
          <a:solidFill>
            <a:srgbClr val="20D9B2"/>
          </a:solidFill>
          <a:ln cap="flat" cmpd="sng" w="12700">
            <a:solidFill>
              <a:srgbClr val="20D9B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 name="Google Shape;42;p1"/>
          <p:cNvPicPr preferRelativeResize="0"/>
          <p:nvPr/>
        </p:nvPicPr>
        <p:blipFill>
          <a:blip r:embed="rId3">
            <a:alphaModFix/>
          </a:blip>
          <a:stretch>
            <a:fillRect/>
          </a:stretch>
        </p:blipFill>
        <p:spPr>
          <a:xfrm>
            <a:off x="9056048" y="2500874"/>
            <a:ext cx="1115550" cy="1115550"/>
          </a:xfrm>
          <a:prstGeom prst="rect">
            <a:avLst/>
          </a:prstGeom>
          <a:noFill/>
          <a:ln>
            <a:noFill/>
          </a:ln>
        </p:spPr>
      </p:pic>
      <p:pic>
        <p:nvPicPr>
          <p:cNvPr id="43" name="Google Shape;43;p1"/>
          <p:cNvPicPr preferRelativeResize="0"/>
          <p:nvPr/>
        </p:nvPicPr>
        <p:blipFill>
          <a:blip r:embed="rId4">
            <a:alphaModFix/>
          </a:blip>
          <a:stretch>
            <a:fillRect/>
          </a:stretch>
        </p:blipFill>
        <p:spPr>
          <a:xfrm>
            <a:off x="7574251" y="1281575"/>
            <a:ext cx="445376" cy="431500"/>
          </a:xfrm>
          <a:prstGeom prst="rect">
            <a:avLst/>
          </a:prstGeom>
          <a:noFill/>
          <a:ln>
            <a:noFill/>
          </a:ln>
        </p:spPr>
      </p:pic>
      <p:pic>
        <p:nvPicPr>
          <p:cNvPr id="44" name="Google Shape;44;p1"/>
          <p:cNvPicPr preferRelativeResize="0"/>
          <p:nvPr/>
        </p:nvPicPr>
        <p:blipFill>
          <a:blip r:embed="rId5">
            <a:alphaModFix/>
          </a:blip>
          <a:stretch>
            <a:fillRect/>
          </a:stretch>
        </p:blipFill>
        <p:spPr>
          <a:xfrm>
            <a:off x="10771625" y="1413100"/>
            <a:ext cx="345610" cy="431499"/>
          </a:xfrm>
          <a:prstGeom prst="rect">
            <a:avLst/>
          </a:prstGeom>
          <a:noFill/>
          <a:ln>
            <a:noFill/>
          </a:ln>
        </p:spPr>
      </p:pic>
      <p:pic>
        <p:nvPicPr>
          <p:cNvPr id="45" name="Google Shape;45;p1"/>
          <p:cNvPicPr preferRelativeResize="0"/>
          <p:nvPr/>
        </p:nvPicPr>
        <p:blipFill>
          <a:blip r:embed="rId6">
            <a:alphaModFix/>
          </a:blip>
          <a:stretch>
            <a:fillRect/>
          </a:stretch>
        </p:blipFill>
        <p:spPr>
          <a:xfrm>
            <a:off x="7540851" y="4443980"/>
            <a:ext cx="609285" cy="320050"/>
          </a:xfrm>
          <a:prstGeom prst="rect">
            <a:avLst/>
          </a:prstGeom>
          <a:noFill/>
          <a:ln>
            <a:noFill/>
          </a:ln>
        </p:spPr>
      </p:pic>
      <p:pic>
        <p:nvPicPr>
          <p:cNvPr id="46" name="Google Shape;46;p1"/>
          <p:cNvPicPr preferRelativeResize="0"/>
          <p:nvPr/>
        </p:nvPicPr>
        <p:blipFill>
          <a:blip r:embed="rId7">
            <a:alphaModFix/>
          </a:blip>
          <a:stretch>
            <a:fillRect/>
          </a:stretch>
        </p:blipFill>
        <p:spPr>
          <a:xfrm>
            <a:off x="10734713" y="4193753"/>
            <a:ext cx="445375" cy="5004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51" name="Shape 51"/>
        <p:cNvGrpSpPr/>
        <p:nvPr/>
      </p:nvGrpSpPr>
      <p:grpSpPr>
        <a:xfrm>
          <a:off x="0" y="0"/>
          <a:ext cx="0" cy="0"/>
          <a:chOff x="0" y="0"/>
          <a:chExt cx="0" cy="0"/>
        </a:xfrm>
      </p:grpSpPr>
      <p:cxnSp>
        <p:nvCxnSpPr>
          <p:cNvPr id="52" name="Google Shape;52;p2"/>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53" name="Google Shape;53;p2"/>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54" name="Google Shape;54;p2"/>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55" name="Google Shape;55;p2"/>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LA EVOLUCIÓN</a:t>
            </a:r>
            <a:endParaRPr b="0" i="0" sz="1050" u="none" cap="none" strike="noStrike">
              <a:solidFill>
                <a:schemeClr val="dk1"/>
              </a:solidFill>
              <a:latin typeface="Inter"/>
              <a:ea typeface="Inter"/>
              <a:cs typeface="Inter"/>
              <a:sym typeface="Inter"/>
            </a:endParaRPr>
          </a:p>
        </p:txBody>
      </p:sp>
      <p:sp>
        <p:nvSpPr>
          <p:cNvPr id="56" name="Google Shape;56;p2"/>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El RAG deja de ser el producto completo</a:t>
            </a:r>
            <a:endParaRPr b="0" i="0" sz="3150" u="none" cap="none" strike="noStrike">
              <a:solidFill>
                <a:schemeClr val="dk1"/>
              </a:solidFill>
              <a:latin typeface="Inter"/>
              <a:ea typeface="Inter"/>
              <a:cs typeface="Inter"/>
              <a:sym typeface="Inter"/>
            </a:endParaRPr>
          </a:p>
        </p:txBody>
      </p:sp>
      <p:sp>
        <p:nvSpPr>
          <p:cNvPr id="57" name="Google Shape;57;p2"/>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Conocimiento reutilizable → decisiones y ejecución controladas</a:t>
            </a:r>
            <a:endParaRPr b="0" i="0" sz="1350" u="none" cap="none" strike="noStrike">
              <a:solidFill>
                <a:schemeClr val="dk1"/>
              </a:solidFill>
              <a:latin typeface="Inter"/>
              <a:ea typeface="Inter"/>
              <a:cs typeface="Inter"/>
              <a:sym typeface="Inter"/>
            </a:endParaRPr>
          </a:p>
        </p:txBody>
      </p:sp>
      <p:sp>
        <p:nvSpPr>
          <p:cNvPr id="58" name="Google Shape;58;p2"/>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02 / 08</a:t>
            </a:r>
            <a:endParaRPr b="0" i="0" sz="1100" u="none" cap="none" strike="noStrike">
              <a:solidFill>
                <a:schemeClr val="dk1"/>
              </a:solidFill>
              <a:latin typeface="Inter"/>
              <a:ea typeface="Inter"/>
              <a:cs typeface="Inter"/>
              <a:sym typeface="Inter"/>
            </a:endParaRPr>
          </a:p>
        </p:txBody>
      </p:sp>
      <p:sp>
        <p:nvSpPr>
          <p:cNvPr id="59" name="Google Shape;59;p2"/>
          <p:cNvSpPr/>
          <p:nvPr/>
        </p:nvSpPr>
        <p:spPr>
          <a:xfrm>
            <a:off x="420619" y="2057388"/>
            <a:ext cx="3337500" cy="2414100"/>
          </a:xfrm>
          <a:prstGeom prst="roundRect">
            <a:avLst>
              <a:gd fmla="val 6818"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2"/>
          <p:cNvCxnSpPr/>
          <p:nvPr/>
        </p:nvCxnSpPr>
        <p:spPr>
          <a:xfrm>
            <a:off x="676644" y="2304820"/>
            <a:ext cx="530400" cy="0"/>
          </a:xfrm>
          <a:prstGeom prst="straightConnector1">
            <a:avLst/>
          </a:prstGeom>
          <a:noFill/>
          <a:ln cap="flat" cmpd="sng" w="38100">
            <a:solidFill>
              <a:srgbClr val="899DB0"/>
            </a:solidFill>
            <a:prstDash val="solid"/>
            <a:round/>
            <a:headEnd len="sm" w="sm" type="none"/>
            <a:tailEnd len="sm" w="sm" type="none"/>
          </a:ln>
        </p:spPr>
      </p:cxnSp>
      <p:sp>
        <p:nvSpPr>
          <p:cNvPr id="61" name="Google Shape;61;p2"/>
          <p:cNvSpPr/>
          <p:nvPr/>
        </p:nvSpPr>
        <p:spPr>
          <a:xfrm>
            <a:off x="649219" y="2450592"/>
            <a:ext cx="28803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300"/>
              <a:buFont typeface="Inter"/>
              <a:buNone/>
            </a:pPr>
            <a:r>
              <a:rPr b="1" i="0" lang="en-US" sz="2300" u="none" cap="none" strike="noStrike">
                <a:solidFill>
                  <a:srgbClr val="F3F8FB"/>
                </a:solidFill>
                <a:latin typeface="Inter"/>
                <a:ea typeface="Inter"/>
                <a:cs typeface="Inter"/>
                <a:sym typeface="Inter"/>
              </a:rPr>
              <a:t>PB01 · RAG</a:t>
            </a:r>
            <a:endParaRPr b="0" i="0" sz="2300" u="none" cap="none" strike="noStrike">
              <a:solidFill>
                <a:schemeClr val="dk1"/>
              </a:solidFill>
              <a:latin typeface="Inter"/>
              <a:ea typeface="Inter"/>
              <a:cs typeface="Inter"/>
              <a:sym typeface="Inter"/>
            </a:endParaRPr>
          </a:p>
        </p:txBody>
      </p:sp>
      <p:sp>
        <p:nvSpPr>
          <p:cNvPr id="62" name="Google Shape;62;p2"/>
          <p:cNvSpPr/>
          <p:nvPr/>
        </p:nvSpPr>
        <p:spPr>
          <a:xfrm>
            <a:off x="662769" y="2999500"/>
            <a:ext cx="2880300" cy="13350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500"/>
              <a:buFont typeface="Inter"/>
              <a:buNone/>
            </a:pPr>
            <a:r>
              <a:rPr b="0" i="0" lang="en-US" sz="1500" u="none" cap="none" strike="noStrike">
                <a:solidFill>
                  <a:srgbClr val="B8CAD5"/>
                </a:solidFill>
                <a:latin typeface="Inter"/>
                <a:ea typeface="Inter"/>
                <a:cs typeface="Inter"/>
                <a:sym typeface="Inter"/>
              </a:rPr>
              <a:t>Corpus municipal · chunks · embeddings · ChromaDB · recuperación con fuentes</a:t>
            </a:r>
            <a:endParaRPr b="0" i="0" sz="1500" u="none" cap="none" strike="noStrike">
              <a:solidFill>
                <a:schemeClr val="dk1"/>
              </a:solidFill>
              <a:latin typeface="Inter"/>
              <a:ea typeface="Inter"/>
              <a:cs typeface="Inter"/>
              <a:sym typeface="Inter"/>
            </a:endParaRPr>
          </a:p>
        </p:txBody>
      </p:sp>
      <p:sp>
        <p:nvSpPr>
          <p:cNvPr id="63" name="Google Shape;63;p2"/>
          <p:cNvSpPr/>
          <p:nvPr/>
        </p:nvSpPr>
        <p:spPr>
          <a:xfrm>
            <a:off x="4434840" y="2057400"/>
            <a:ext cx="3337560" cy="2414016"/>
          </a:xfrm>
          <a:prstGeom prst="roundRect">
            <a:avLst>
              <a:gd fmla="val 6818"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 name="Google Shape;64;p2"/>
          <p:cNvCxnSpPr/>
          <p:nvPr/>
        </p:nvCxnSpPr>
        <p:spPr>
          <a:xfrm>
            <a:off x="4663440" y="2313432"/>
            <a:ext cx="530352" cy="0"/>
          </a:xfrm>
          <a:prstGeom prst="straightConnector1">
            <a:avLst/>
          </a:prstGeom>
          <a:noFill/>
          <a:ln cap="flat" cmpd="sng" w="38100">
            <a:solidFill>
              <a:srgbClr val="20D9B2"/>
            </a:solidFill>
            <a:prstDash val="solid"/>
            <a:round/>
            <a:headEnd len="sm" w="sm" type="none"/>
            <a:tailEnd len="sm" w="sm" type="none"/>
          </a:ln>
        </p:spPr>
      </p:cxnSp>
      <p:sp>
        <p:nvSpPr>
          <p:cNvPr id="65" name="Google Shape;65;p2"/>
          <p:cNvSpPr/>
          <p:nvPr/>
        </p:nvSpPr>
        <p:spPr>
          <a:xfrm>
            <a:off x="4663440" y="2450592"/>
            <a:ext cx="288036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300"/>
              <a:buFont typeface="Inter"/>
              <a:buNone/>
            </a:pPr>
            <a:r>
              <a:rPr b="1" i="0" lang="en-US" sz="2300" u="none" cap="none" strike="noStrike">
                <a:solidFill>
                  <a:srgbClr val="F3F8FB"/>
                </a:solidFill>
                <a:latin typeface="Inter"/>
                <a:ea typeface="Inter"/>
                <a:cs typeface="Inter"/>
                <a:sym typeface="Inter"/>
              </a:rPr>
              <a:t>PB02 · AGENTES</a:t>
            </a:r>
            <a:endParaRPr b="0" i="0" sz="2300" u="none" cap="none" strike="noStrike">
              <a:solidFill>
                <a:schemeClr val="dk1"/>
              </a:solidFill>
              <a:latin typeface="Inter"/>
              <a:ea typeface="Inter"/>
              <a:cs typeface="Inter"/>
              <a:sym typeface="Inter"/>
            </a:endParaRPr>
          </a:p>
        </p:txBody>
      </p:sp>
      <p:sp>
        <p:nvSpPr>
          <p:cNvPr id="66" name="Google Shape;66;p2"/>
          <p:cNvSpPr/>
          <p:nvPr/>
        </p:nvSpPr>
        <p:spPr>
          <a:xfrm>
            <a:off x="4663440" y="2971800"/>
            <a:ext cx="2880360" cy="133502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600"/>
              <a:buFont typeface="Inter"/>
              <a:buNone/>
            </a:pPr>
            <a:r>
              <a:rPr b="0" i="0" lang="en-US" sz="1600" u="none" cap="none" strike="noStrike">
                <a:solidFill>
                  <a:srgbClr val="B8CAD5"/>
                </a:solidFill>
                <a:latin typeface="Inter"/>
                <a:ea typeface="Inter"/>
                <a:cs typeface="Inter"/>
                <a:sym typeface="Inter"/>
              </a:rPr>
              <a:t>Supervisor · especialistas · tools · estado · HITL</a:t>
            </a:r>
            <a:endParaRPr b="0" i="0" sz="1600" u="none" cap="none" strike="noStrike">
              <a:solidFill>
                <a:schemeClr val="dk1"/>
              </a:solidFill>
              <a:latin typeface="Inter"/>
              <a:ea typeface="Inter"/>
              <a:cs typeface="Inter"/>
              <a:sym typeface="Inter"/>
            </a:endParaRPr>
          </a:p>
        </p:txBody>
      </p:sp>
      <p:sp>
        <p:nvSpPr>
          <p:cNvPr id="67" name="Google Shape;67;p2"/>
          <p:cNvSpPr/>
          <p:nvPr/>
        </p:nvSpPr>
        <p:spPr>
          <a:xfrm>
            <a:off x="8366786" y="2057388"/>
            <a:ext cx="3337500" cy="2414100"/>
          </a:xfrm>
          <a:prstGeom prst="roundRect">
            <a:avLst>
              <a:gd fmla="val 6818"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 name="Google Shape;68;p2"/>
          <p:cNvCxnSpPr/>
          <p:nvPr/>
        </p:nvCxnSpPr>
        <p:spPr>
          <a:xfrm>
            <a:off x="8595386" y="2313432"/>
            <a:ext cx="530400" cy="0"/>
          </a:xfrm>
          <a:prstGeom prst="straightConnector1">
            <a:avLst/>
          </a:prstGeom>
          <a:noFill/>
          <a:ln cap="flat" cmpd="sng" w="38100">
            <a:solidFill>
              <a:srgbClr val="BB9DFF"/>
            </a:solidFill>
            <a:prstDash val="solid"/>
            <a:round/>
            <a:headEnd len="sm" w="sm" type="none"/>
            <a:tailEnd len="sm" w="sm" type="none"/>
          </a:ln>
        </p:spPr>
      </p:cxnSp>
      <p:sp>
        <p:nvSpPr>
          <p:cNvPr id="69" name="Google Shape;69;p2"/>
          <p:cNvSpPr/>
          <p:nvPr/>
        </p:nvSpPr>
        <p:spPr>
          <a:xfrm>
            <a:off x="8595374" y="2450592"/>
            <a:ext cx="28803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300"/>
              <a:buFont typeface="Inter"/>
              <a:buNone/>
            </a:pPr>
            <a:r>
              <a:rPr b="1" i="0" lang="en-US" sz="2300" u="none" cap="none" strike="noStrike">
                <a:solidFill>
                  <a:srgbClr val="F3F8FB"/>
                </a:solidFill>
                <a:latin typeface="Inter"/>
                <a:ea typeface="Inter"/>
                <a:cs typeface="Inter"/>
                <a:sym typeface="Inter"/>
              </a:rPr>
              <a:t>PB03 · </a:t>
            </a:r>
            <a:r>
              <a:rPr b="1" lang="en-US" sz="2300">
                <a:solidFill>
                  <a:srgbClr val="F3F8FB"/>
                </a:solidFill>
                <a:latin typeface="Inter"/>
                <a:ea typeface="Inter"/>
                <a:cs typeface="Inter"/>
                <a:sym typeface="Inter"/>
              </a:rPr>
              <a:t>CAPSTONE</a:t>
            </a:r>
            <a:endParaRPr b="0" i="0" sz="2300" u="none" cap="none" strike="noStrike">
              <a:solidFill>
                <a:schemeClr val="dk1"/>
              </a:solidFill>
              <a:latin typeface="Inter"/>
              <a:ea typeface="Inter"/>
              <a:cs typeface="Inter"/>
              <a:sym typeface="Inter"/>
            </a:endParaRPr>
          </a:p>
        </p:txBody>
      </p:sp>
      <p:sp>
        <p:nvSpPr>
          <p:cNvPr id="70" name="Google Shape;70;p2"/>
          <p:cNvSpPr/>
          <p:nvPr/>
        </p:nvSpPr>
        <p:spPr>
          <a:xfrm>
            <a:off x="8595386" y="2958100"/>
            <a:ext cx="2880300" cy="13350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500"/>
              <a:buFont typeface="Inter"/>
              <a:buNone/>
            </a:pPr>
            <a:r>
              <a:rPr b="0" i="0" lang="en-US" sz="1500" u="none" cap="none" strike="noStrike">
                <a:solidFill>
                  <a:srgbClr val="B8CAD5"/>
                </a:solidFill>
                <a:latin typeface="Inter"/>
                <a:ea typeface="Inter"/>
                <a:cs typeface="Inter"/>
                <a:sym typeface="Inter"/>
              </a:rPr>
              <a:t>Despliegue, monitorización y operación: siguiente fase, no implementada</a:t>
            </a:r>
            <a:endParaRPr b="0" i="0" sz="1500" u="none" cap="none" strike="noStrike">
              <a:solidFill>
                <a:schemeClr val="dk1"/>
              </a:solidFill>
              <a:latin typeface="Inter"/>
              <a:ea typeface="Inter"/>
              <a:cs typeface="Inter"/>
              <a:sym typeface="Inter"/>
            </a:endParaRPr>
          </a:p>
        </p:txBody>
      </p:sp>
      <p:cxnSp>
        <p:nvCxnSpPr>
          <p:cNvPr id="71" name="Google Shape;71;p2"/>
          <p:cNvCxnSpPr/>
          <p:nvPr/>
        </p:nvCxnSpPr>
        <p:spPr>
          <a:xfrm flipH="1" rot="10800000">
            <a:off x="3835350" y="3246100"/>
            <a:ext cx="508200" cy="9600"/>
          </a:xfrm>
          <a:prstGeom prst="straightConnector1">
            <a:avLst/>
          </a:prstGeom>
          <a:noFill/>
          <a:ln cap="flat" cmpd="sng" w="38100">
            <a:solidFill>
              <a:srgbClr val="20D9B2"/>
            </a:solidFill>
            <a:prstDash val="solid"/>
            <a:round/>
            <a:headEnd len="sm" w="sm" type="none"/>
            <a:tailEnd len="med" w="med" type="triangle"/>
          </a:ln>
        </p:spPr>
      </p:cxnSp>
      <p:cxnSp>
        <p:nvCxnSpPr>
          <p:cNvPr id="72" name="Google Shape;72;p2"/>
          <p:cNvCxnSpPr/>
          <p:nvPr/>
        </p:nvCxnSpPr>
        <p:spPr>
          <a:xfrm>
            <a:off x="7827386" y="3246138"/>
            <a:ext cx="471300" cy="0"/>
          </a:xfrm>
          <a:prstGeom prst="straightConnector1">
            <a:avLst/>
          </a:prstGeom>
          <a:noFill/>
          <a:ln cap="flat" cmpd="sng" w="38100">
            <a:solidFill>
              <a:srgbClr val="BB9DFF"/>
            </a:solidFill>
            <a:prstDash val="solid"/>
            <a:round/>
            <a:headEnd len="sm" w="sm" type="none"/>
            <a:tailEnd len="med" w="med" type="triangle"/>
          </a:ln>
        </p:spPr>
      </p:cxnSp>
      <p:sp>
        <p:nvSpPr>
          <p:cNvPr id="73" name="Google Shape;73;p2"/>
          <p:cNvSpPr/>
          <p:nvPr/>
        </p:nvSpPr>
        <p:spPr>
          <a:xfrm>
            <a:off x="1490472" y="5029200"/>
            <a:ext cx="9208008" cy="731520"/>
          </a:xfrm>
          <a:prstGeom prst="roundRect">
            <a:avLst>
              <a:gd fmla="val 22500" name="adj"/>
            </a:avLst>
          </a:prstGeom>
          <a:solidFill>
            <a:srgbClr val="12372F"/>
          </a:solidFill>
          <a:ln cap="flat" cmpd="sng" w="12700">
            <a:solidFill>
              <a:srgbClr val="12372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773936" y="5212080"/>
            <a:ext cx="8778240" cy="338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2100"/>
              <a:buFont typeface="Inter"/>
              <a:buNone/>
            </a:pPr>
            <a:r>
              <a:rPr b="1" i="0" lang="en-US" sz="2100" u="none" cap="none" strike="noStrike">
                <a:solidFill>
                  <a:srgbClr val="B8FE6D"/>
                </a:solidFill>
                <a:latin typeface="Inter"/>
                <a:ea typeface="Inter"/>
                <a:cs typeface="Inter"/>
                <a:sym typeface="Inter"/>
              </a:rPr>
              <a:t>IDEA CLAVE  ·  El agente invoca el RAG como una tool; no lo sustituye.</a:t>
            </a:r>
            <a:endParaRPr b="0" i="0" sz="2100"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79" name="Shape 79"/>
        <p:cNvGrpSpPr/>
        <p:nvPr/>
      </p:nvGrpSpPr>
      <p:grpSpPr>
        <a:xfrm>
          <a:off x="0" y="0"/>
          <a:ext cx="0" cy="0"/>
          <a:chOff x="0" y="0"/>
          <a:chExt cx="0" cy="0"/>
        </a:xfrm>
      </p:grpSpPr>
      <p:cxnSp>
        <p:nvCxnSpPr>
          <p:cNvPr id="80" name="Google Shape;80;p3"/>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81" name="Google Shape;81;p3"/>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82" name="Google Shape;82;p3"/>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83" name="Google Shape;83;p3"/>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ORQUESTACIÓN</a:t>
            </a:r>
            <a:endParaRPr b="0" i="0" sz="1050" u="none" cap="none" strike="noStrike">
              <a:solidFill>
                <a:schemeClr val="dk1"/>
              </a:solidFill>
              <a:latin typeface="Inter"/>
              <a:ea typeface="Inter"/>
              <a:cs typeface="Inter"/>
              <a:sym typeface="Inter"/>
            </a:endParaRPr>
          </a:p>
        </p:txBody>
      </p:sp>
      <p:sp>
        <p:nvSpPr>
          <p:cNvPr id="84" name="Google Shape;84;p3"/>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Un grafo con rutas selectivas</a:t>
            </a:r>
            <a:endParaRPr b="0" i="0" sz="3150" u="none" cap="none" strike="noStrike">
              <a:solidFill>
                <a:schemeClr val="dk1"/>
              </a:solidFill>
              <a:latin typeface="Inter"/>
              <a:ea typeface="Inter"/>
              <a:cs typeface="Inter"/>
              <a:sym typeface="Inter"/>
            </a:endParaRPr>
          </a:p>
        </p:txBody>
      </p:sp>
      <p:pic>
        <p:nvPicPr>
          <p:cNvPr id="85" name="Google Shape;85;p3"/>
          <p:cNvPicPr preferRelativeResize="0"/>
          <p:nvPr/>
        </p:nvPicPr>
        <p:blipFill>
          <a:blip r:embed="rId3">
            <a:alphaModFix/>
          </a:blip>
          <a:stretch>
            <a:fillRect/>
          </a:stretch>
        </p:blipFill>
        <p:spPr>
          <a:xfrm>
            <a:off x="2293525" y="1237588"/>
            <a:ext cx="8323709" cy="4684576"/>
          </a:xfrm>
          <a:prstGeom prst="rect">
            <a:avLst/>
          </a:prstGeom>
          <a:noFill/>
          <a:ln>
            <a:noFill/>
          </a:ln>
        </p:spPr>
      </p:pic>
      <p:sp>
        <p:nvSpPr>
          <p:cNvPr id="86" name="Google Shape;86;p3"/>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StateGraph · 5 nodos · supervisor recurrente · interrupción antes de aplicar</a:t>
            </a:r>
            <a:endParaRPr b="0" i="0" sz="1350" u="none" cap="none" strike="noStrike">
              <a:solidFill>
                <a:schemeClr val="dk1"/>
              </a:solidFill>
              <a:latin typeface="Inter"/>
              <a:ea typeface="Inter"/>
              <a:cs typeface="Inter"/>
              <a:sym typeface="Inter"/>
            </a:endParaRPr>
          </a:p>
        </p:txBody>
      </p:sp>
      <p:sp>
        <p:nvSpPr>
          <p:cNvPr id="87" name="Google Shape;87;p3"/>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03 / 08</a:t>
            </a:r>
            <a:endParaRPr b="0" i="0" sz="1100" u="none" cap="none" strike="noStrike">
              <a:solidFill>
                <a:schemeClr val="dk1"/>
              </a:solidFill>
              <a:latin typeface="Inter"/>
              <a:ea typeface="Inter"/>
              <a:cs typeface="Inter"/>
              <a:sym typeface="Inter"/>
            </a:endParaRPr>
          </a:p>
        </p:txBody>
      </p:sp>
      <p:sp>
        <p:nvSpPr>
          <p:cNvPr id="88" name="Google Shape;88;p3"/>
          <p:cNvSpPr/>
          <p:nvPr/>
        </p:nvSpPr>
        <p:spPr>
          <a:xfrm>
            <a:off x="713232" y="5577840"/>
            <a:ext cx="6922008" cy="566928"/>
          </a:xfrm>
          <a:prstGeom prst="roundRect">
            <a:avLst>
              <a:gd fmla="val 29032"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969264" y="5705856"/>
            <a:ext cx="644652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500"/>
              <a:buFont typeface="Inter"/>
              <a:buNone/>
            </a:pPr>
            <a:r>
              <a:rPr b="1" i="0" lang="en-US" sz="1500" u="none" cap="none" strike="noStrike">
                <a:solidFill>
                  <a:srgbClr val="F3F8FB"/>
                </a:solidFill>
                <a:latin typeface="Inter"/>
                <a:ea typeface="Inter"/>
                <a:cs typeface="Inter"/>
                <a:sym typeface="Inter"/>
              </a:rPr>
              <a:t>Siguiente nodo validado por Python; FINISH solo con un plan válido.</a:t>
            </a:r>
            <a:endParaRPr b="0" i="0" sz="15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94" name="Shape 94"/>
        <p:cNvGrpSpPr/>
        <p:nvPr/>
      </p:nvGrpSpPr>
      <p:grpSpPr>
        <a:xfrm>
          <a:off x="0" y="0"/>
          <a:ext cx="0" cy="0"/>
          <a:chOff x="0" y="0"/>
          <a:chExt cx="0" cy="0"/>
        </a:xfrm>
      </p:grpSpPr>
      <p:cxnSp>
        <p:nvCxnSpPr>
          <p:cNvPr id="95" name="Google Shape;95;p4"/>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96" name="Google Shape;96;p4"/>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97" name="Google Shape;97;p4"/>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98" name="Google Shape;98;p4"/>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TOOLS Y PERMISOS</a:t>
            </a:r>
            <a:endParaRPr b="0" i="0" sz="1050" u="none" cap="none" strike="noStrike">
              <a:solidFill>
                <a:schemeClr val="dk1"/>
              </a:solidFill>
              <a:latin typeface="Inter"/>
              <a:ea typeface="Inter"/>
              <a:cs typeface="Inter"/>
              <a:sym typeface="Inter"/>
            </a:endParaRPr>
          </a:p>
        </p:txBody>
      </p:sp>
      <p:sp>
        <p:nvSpPr>
          <p:cNvPr id="99" name="Google Shape;99;p4"/>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Cuatro herramientas; acceso por rol</a:t>
            </a:r>
            <a:endParaRPr b="0" i="0" sz="3150" u="none" cap="none" strike="noStrike">
              <a:solidFill>
                <a:schemeClr val="dk1"/>
              </a:solidFill>
              <a:latin typeface="Inter"/>
              <a:ea typeface="Inter"/>
              <a:cs typeface="Inter"/>
              <a:sym typeface="Inter"/>
            </a:endParaRPr>
          </a:p>
        </p:txBody>
      </p:sp>
      <p:sp>
        <p:nvSpPr>
          <p:cNvPr id="100" name="Google Shape;100;p4"/>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La selección del LLM no equivale a autorización de ejecución</a:t>
            </a:r>
            <a:endParaRPr b="0" i="0" sz="1350" u="none" cap="none" strike="noStrike">
              <a:solidFill>
                <a:schemeClr val="dk1"/>
              </a:solidFill>
              <a:latin typeface="Inter"/>
              <a:ea typeface="Inter"/>
              <a:cs typeface="Inter"/>
              <a:sym typeface="Inter"/>
            </a:endParaRPr>
          </a:p>
        </p:txBody>
      </p:sp>
      <p:sp>
        <p:nvSpPr>
          <p:cNvPr id="101" name="Google Shape;101;p4"/>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04 / 08</a:t>
            </a:r>
            <a:endParaRPr b="0" i="0" sz="1100" u="none" cap="none" strike="noStrike">
              <a:solidFill>
                <a:schemeClr val="dk1"/>
              </a:solidFill>
              <a:latin typeface="Inter"/>
              <a:ea typeface="Inter"/>
              <a:cs typeface="Inter"/>
              <a:sym typeface="Inter"/>
            </a:endParaRPr>
          </a:p>
        </p:txBody>
      </p:sp>
      <p:sp>
        <p:nvSpPr>
          <p:cNvPr id="102" name="Google Shape;102;p4"/>
          <p:cNvSpPr/>
          <p:nvPr/>
        </p:nvSpPr>
        <p:spPr>
          <a:xfrm>
            <a:off x="704088" y="1965960"/>
            <a:ext cx="5212080" cy="2953512"/>
          </a:xfrm>
          <a:prstGeom prst="roundRect">
            <a:avLst>
              <a:gd fmla="val 5573"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6208776" y="1965960"/>
            <a:ext cx="5212080" cy="2953512"/>
          </a:xfrm>
          <a:prstGeom prst="roundRect">
            <a:avLst>
              <a:gd fmla="val 5573"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996696" y="2203704"/>
            <a:ext cx="2075688" cy="347472"/>
          </a:xfrm>
          <a:prstGeom prst="roundRect">
            <a:avLst>
              <a:gd fmla="val 31579" name="adj"/>
            </a:avLst>
          </a:prstGeom>
          <a:solidFill>
            <a:srgbClr val="204038"/>
          </a:solidFill>
          <a:ln cap="flat" cmpd="sng" w="12700">
            <a:solidFill>
              <a:srgbClr val="20403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143000" y="2217420"/>
            <a:ext cx="178308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30"/>
              <a:buFont typeface="Inter"/>
              <a:buNone/>
            </a:pPr>
            <a:r>
              <a:rPr b="1" i="0" lang="en-US" sz="1030" u="none" cap="none" strike="noStrike">
                <a:solidFill>
                  <a:srgbClr val="20D9B2"/>
                </a:solidFill>
                <a:latin typeface="Inter"/>
                <a:ea typeface="Inter"/>
                <a:cs typeface="Inter"/>
                <a:sym typeface="Inter"/>
              </a:rPr>
              <a:t>ROL · RESIDUOS</a:t>
            </a:r>
            <a:endParaRPr b="0" i="0" sz="1030" u="none" cap="none" strike="noStrike">
              <a:solidFill>
                <a:schemeClr val="dk1"/>
              </a:solidFill>
              <a:latin typeface="Inter"/>
              <a:ea typeface="Inter"/>
              <a:cs typeface="Inter"/>
              <a:sym typeface="Inter"/>
            </a:endParaRPr>
          </a:p>
        </p:txBody>
      </p:sp>
      <p:sp>
        <p:nvSpPr>
          <p:cNvPr id="106" name="Google Shape;106;p4"/>
          <p:cNvSpPr/>
          <p:nvPr/>
        </p:nvSpPr>
        <p:spPr>
          <a:xfrm>
            <a:off x="6501384" y="2203704"/>
            <a:ext cx="1975104" cy="347472"/>
          </a:xfrm>
          <a:prstGeom prst="roundRect">
            <a:avLst>
              <a:gd fmla="val 31579" name="adj"/>
            </a:avLst>
          </a:prstGeom>
          <a:solidFill>
            <a:srgbClr val="1E3C57"/>
          </a:solidFill>
          <a:ln cap="flat" cmpd="sng" w="12700">
            <a:solidFill>
              <a:srgbClr val="1E3C5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6647688" y="2217420"/>
            <a:ext cx="168249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CACFF"/>
              </a:buClr>
              <a:buSzPts val="1030"/>
              <a:buFont typeface="Inter"/>
              <a:buNone/>
            </a:pPr>
            <a:r>
              <a:rPr b="1" i="0" lang="en-US" sz="1030" u="none" cap="none" strike="noStrike">
                <a:solidFill>
                  <a:srgbClr val="4CACFF"/>
                </a:solidFill>
                <a:latin typeface="Inter"/>
                <a:ea typeface="Inter"/>
                <a:cs typeface="Inter"/>
                <a:sym typeface="Inter"/>
              </a:rPr>
              <a:t>ROL · PUNTOS</a:t>
            </a:r>
            <a:endParaRPr b="0" i="0" sz="1030" u="none" cap="none" strike="noStrike">
              <a:solidFill>
                <a:schemeClr val="dk1"/>
              </a:solidFill>
              <a:latin typeface="Inter"/>
              <a:ea typeface="Inter"/>
              <a:cs typeface="Inter"/>
              <a:sym typeface="Inter"/>
            </a:endParaRPr>
          </a:p>
        </p:txBody>
      </p:sp>
      <p:sp>
        <p:nvSpPr>
          <p:cNvPr id="108" name="Google Shape;108;p4"/>
          <p:cNvSpPr/>
          <p:nvPr/>
        </p:nvSpPr>
        <p:spPr>
          <a:xfrm>
            <a:off x="1024128" y="2967228"/>
            <a:ext cx="128016" cy="128016"/>
          </a:xfrm>
          <a:prstGeom prst="ellipse">
            <a:avLst/>
          </a:prstGeom>
          <a:solidFill>
            <a:srgbClr val="20D9B2"/>
          </a:solidFill>
          <a:ln cap="flat" cmpd="sng" w="12700">
            <a:solidFill>
              <a:srgbClr val="20D9B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1261872" y="2825496"/>
            <a:ext cx="42062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consultar_rag</a:t>
            </a:r>
            <a:endParaRPr b="0" i="0" sz="1710" u="none" cap="none" strike="noStrike">
              <a:solidFill>
                <a:schemeClr val="dk1"/>
              </a:solidFill>
              <a:latin typeface="Inter"/>
              <a:ea typeface="Inter"/>
              <a:cs typeface="Inter"/>
              <a:sym typeface="Inter"/>
            </a:endParaRPr>
          </a:p>
        </p:txBody>
      </p:sp>
      <p:sp>
        <p:nvSpPr>
          <p:cNvPr id="110" name="Google Shape;110;p4"/>
          <p:cNvSpPr/>
          <p:nvPr/>
        </p:nvSpPr>
        <p:spPr>
          <a:xfrm>
            <a:off x="1261872" y="3163819"/>
            <a:ext cx="42063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1220"/>
              <a:buFont typeface="Inter"/>
              <a:buNone/>
            </a:pPr>
            <a:r>
              <a:rPr b="0" i="0" lang="en-US" sz="1220" u="none" cap="none" strike="noStrike">
                <a:solidFill>
                  <a:srgbClr val="899DB0"/>
                </a:solidFill>
                <a:latin typeface="Inter"/>
                <a:ea typeface="Inter"/>
                <a:cs typeface="Inter"/>
                <a:sym typeface="Inter"/>
              </a:rPr>
              <a:t>Destinos con fuentes y abstención</a:t>
            </a:r>
            <a:endParaRPr b="0" i="0" sz="1220" u="none" cap="none" strike="noStrike">
              <a:solidFill>
                <a:schemeClr val="dk1"/>
              </a:solidFill>
              <a:latin typeface="Inter"/>
              <a:ea typeface="Inter"/>
              <a:cs typeface="Inter"/>
              <a:sym typeface="Inter"/>
            </a:endParaRPr>
          </a:p>
        </p:txBody>
      </p:sp>
      <p:sp>
        <p:nvSpPr>
          <p:cNvPr id="111" name="Google Shape;111;p4"/>
          <p:cNvSpPr/>
          <p:nvPr/>
        </p:nvSpPr>
        <p:spPr>
          <a:xfrm>
            <a:off x="996703" y="3730785"/>
            <a:ext cx="128100" cy="128100"/>
          </a:xfrm>
          <a:prstGeom prst="ellipse">
            <a:avLst/>
          </a:prstGeom>
          <a:solidFill>
            <a:srgbClr val="20D9B2"/>
          </a:solidFill>
          <a:ln cap="flat" cmpd="sng" w="12700">
            <a:solidFill>
              <a:srgbClr val="20D9B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1234447" y="3589053"/>
            <a:ext cx="4206300" cy="347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describir_imagen</a:t>
            </a:r>
            <a:endParaRPr b="0" i="0" sz="1710" u="none" cap="none" strike="noStrike">
              <a:solidFill>
                <a:schemeClr val="dk1"/>
              </a:solidFill>
              <a:latin typeface="Inter"/>
              <a:ea typeface="Inter"/>
              <a:cs typeface="Inter"/>
              <a:sym typeface="Inter"/>
            </a:endParaRPr>
          </a:p>
        </p:txBody>
      </p:sp>
      <p:sp>
        <p:nvSpPr>
          <p:cNvPr id="113" name="Google Shape;113;p4"/>
          <p:cNvSpPr/>
          <p:nvPr/>
        </p:nvSpPr>
        <p:spPr>
          <a:xfrm>
            <a:off x="1234447" y="3973101"/>
            <a:ext cx="42063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1220"/>
              <a:buFont typeface="Inter"/>
              <a:buNone/>
            </a:pPr>
            <a:r>
              <a:rPr b="0" i="0" lang="en-US" sz="1220" u="none" cap="none" strike="noStrike">
                <a:solidFill>
                  <a:srgbClr val="899DB0"/>
                </a:solidFill>
                <a:latin typeface="Inter"/>
                <a:ea typeface="Inter"/>
                <a:cs typeface="Inter"/>
                <a:sym typeface="Inter"/>
              </a:rPr>
              <a:t>Reconoce objetos</a:t>
            </a:r>
            <a:endParaRPr b="0" i="0" sz="1220" u="none" cap="none" strike="noStrike">
              <a:solidFill>
                <a:schemeClr val="dk1"/>
              </a:solidFill>
              <a:latin typeface="Inter"/>
              <a:ea typeface="Inter"/>
              <a:cs typeface="Inter"/>
              <a:sym typeface="Inter"/>
            </a:endParaRPr>
          </a:p>
        </p:txBody>
      </p:sp>
      <p:sp>
        <p:nvSpPr>
          <p:cNvPr id="114" name="Google Shape;114;p4"/>
          <p:cNvSpPr/>
          <p:nvPr/>
        </p:nvSpPr>
        <p:spPr>
          <a:xfrm>
            <a:off x="6528816" y="2903220"/>
            <a:ext cx="128016" cy="128016"/>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6766560" y="2761488"/>
            <a:ext cx="42062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consultar_rag</a:t>
            </a:r>
            <a:endParaRPr b="0" i="0" sz="1710" u="none" cap="none" strike="noStrike">
              <a:solidFill>
                <a:schemeClr val="dk1"/>
              </a:solidFill>
              <a:latin typeface="Inter"/>
              <a:ea typeface="Inter"/>
              <a:cs typeface="Inter"/>
              <a:sym typeface="Inter"/>
            </a:endParaRPr>
          </a:p>
        </p:txBody>
      </p:sp>
      <p:sp>
        <p:nvSpPr>
          <p:cNvPr id="116" name="Google Shape;116;p4"/>
          <p:cNvSpPr/>
          <p:nvPr/>
        </p:nvSpPr>
        <p:spPr>
          <a:xfrm>
            <a:off x="6766560" y="3145536"/>
            <a:ext cx="4206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1220"/>
              <a:buFont typeface="Inter"/>
              <a:buNone/>
            </a:pPr>
            <a:r>
              <a:rPr b="0" i="0" lang="en-US" sz="1220" u="none" cap="none" strike="noStrike">
                <a:solidFill>
                  <a:srgbClr val="899DB0"/>
                </a:solidFill>
                <a:latin typeface="Inter"/>
                <a:ea typeface="Inter"/>
                <a:cs typeface="Inter"/>
                <a:sym typeface="Inter"/>
              </a:rPr>
              <a:t>Reglas y modalidad documentada</a:t>
            </a:r>
            <a:endParaRPr b="0" i="0" sz="1220" u="none" cap="none" strike="noStrike">
              <a:solidFill>
                <a:schemeClr val="dk1"/>
              </a:solidFill>
              <a:latin typeface="Inter"/>
              <a:ea typeface="Inter"/>
              <a:cs typeface="Inter"/>
              <a:sym typeface="Inter"/>
            </a:endParaRPr>
          </a:p>
        </p:txBody>
      </p:sp>
      <p:sp>
        <p:nvSpPr>
          <p:cNvPr id="117" name="Google Shape;117;p4"/>
          <p:cNvSpPr/>
          <p:nvPr/>
        </p:nvSpPr>
        <p:spPr>
          <a:xfrm>
            <a:off x="6528816" y="3616452"/>
            <a:ext cx="128016" cy="128016"/>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766560" y="3474720"/>
            <a:ext cx="42062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buscar_puntos_limpios_cercanos</a:t>
            </a:r>
            <a:endParaRPr b="0" i="0" sz="1710" u="none" cap="none" strike="noStrike">
              <a:solidFill>
                <a:schemeClr val="dk1"/>
              </a:solidFill>
              <a:latin typeface="Inter"/>
              <a:ea typeface="Inter"/>
              <a:cs typeface="Inter"/>
              <a:sym typeface="Inter"/>
            </a:endParaRPr>
          </a:p>
        </p:txBody>
      </p:sp>
      <p:sp>
        <p:nvSpPr>
          <p:cNvPr id="119" name="Google Shape;119;p4"/>
          <p:cNvSpPr/>
          <p:nvPr/>
        </p:nvSpPr>
        <p:spPr>
          <a:xfrm>
            <a:off x="6766560" y="3858768"/>
            <a:ext cx="4206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1220"/>
              <a:buFont typeface="Inter"/>
              <a:buNone/>
            </a:pPr>
            <a:r>
              <a:rPr b="0" i="0" lang="en-US" sz="1220" u="none" cap="none" strike="noStrike">
                <a:solidFill>
                  <a:srgbClr val="899DB0"/>
                </a:solidFill>
                <a:latin typeface="Inter"/>
                <a:ea typeface="Inter"/>
                <a:cs typeface="Inter"/>
                <a:sym typeface="Inter"/>
              </a:rPr>
              <a:t>API ArcGIS + respaldo local identificado</a:t>
            </a:r>
            <a:endParaRPr b="0" i="0" sz="1220" u="none" cap="none" strike="noStrike">
              <a:solidFill>
                <a:schemeClr val="dk1"/>
              </a:solidFill>
              <a:latin typeface="Inter"/>
              <a:ea typeface="Inter"/>
              <a:cs typeface="Inter"/>
              <a:sym typeface="Inter"/>
            </a:endParaRPr>
          </a:p>
        </p:txBody>
      </p:sp>
      <p:sp>
        <p:nvSpPr>
          <p:cNvPr id="120" name="Google Shape;120;p4"/>
          <p:cNvSpPr/>
          <p:nvPr/>
        </p:nvSpPr>
        <p:spPr>
          <a:xfrm>
            <a:off x="6528816" y="4329684"/>
            <a:ext cx="128016" cy="128016"/>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6766560" y="4187952"/>
            <a:ext cx="42062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hora_actual</a:t>
            </a:r>
            <a:endParaRPr b="0" i="0" sz="1710" u="none" cap="none" strike="noStrike">
              <a:solidFill>
                <a:schemeClr val="dk1"/>
              </a:solidFill>
              <a:latin typeface="Inter"/>
              <a:ea typeface="Inter"/>
              <a:cs typeface="Inter"/>
              <a:sym typeface="Inter"/>
            </a:endParaRPr>
          </a:p>
        </p:txBody>
      </p:sp>
      <p:sp>
        <p:nvSpPr>
          <p:cNvPr id="122" name="Google Shape;122;p4"/>
          <p:cNvSpPr/>
          <p:nvPr/>
        </p:nvSpPr>
        <p:spPr>
          <a:xfrm>
            <a:off x="6766560" y="4572000"/>
            <a:ext cx="420624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1220"/>
              <a:buFont typeface="Inter"/>
              <a:buNone/>
            </a:pPr>
            <a:r>
              <a:rPr lang="en-US" sz="1220">
                <a:solidFill>
                  <a:srgbClr val="899DB0"/>
                </a:solidFill>
                <a:latin typeface="Inter"/>
                <a:ea typeface="Inter"/>
                <a:cs typeface="Inter"/>
                <a:sym typeface="Inter"/>
              </a:rPr>
              <a:t>Zona horaria = </a:t>
            </a:r>
            <a:r>
              <a:rPr b="0" i="0" lang="en-US" sz="1220" u="none" cap="none" strike="noStrike">
                <a:solidFill>
                  <a:srgbClr val="899DB0"/>
                </a:solidFill>
                <a:latin typeface="Inter"/>
                <a:ea typeface="Inter"/>
                <a:cs typeface="Inter"/>
                <a:sym typeface="Inter"/>
              </a:rPr>
              <a:t>Europe/Madrid</a:t>
            </a:r>
            <a:endParaRPr b="0" i="0" sz="1220" u="none" cap="none" strike="noStrike">
              <a:solidFill>
                <a:schemeClr val="dk1"/>
              </a:solidFill>
              <a:latin typeface="Inter"/>
              <a:ea typeface="Inter"/>
              <a:cs typeface="Inter"/>
              <a:sym typeface="Inter"/>
            </a:endParaRPr>
          </a:p>
        </p:txBody>
      </p:sp>
      <p:sp>
        <p:nvSpPr>
          <p:cNvPr id="123" name="Google Shape;123;p4"/>
          <p:cNvSpPr/>
          <p:nvPr/>
        </p:nvSpPr>
        <p:spPr>
          <a:xfrm>
            <a:off x="704088" y="5193792"/>
            <a:ext cx="10698480" cy="658368"/>
          </a:xfrm>
          <a:prstGeom prst="roundRect">
            <a:avLst>
              <a:gd fmla="val 25000" name="adj"/>
            </a:avLst>
          </a:prstGeom>
          <a:solidFill>
            <a:srgbClr val="1C343F"/>
          </a:solidFill>
          <a:ln cap="flat" cmpd="sng" w="12700">
            <a:solidFill>
              <a:srgbClr val="1C343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914400" y="5340096"/>
            <a:ext cx="475488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1779"/>
              <a:buFont typeface="Inter"/>
              <a:buNone/>
            </a:pPr>
            <a:r>
              <a:rPr b="1" i="0" lang="en-US" sz="1780" u="none" cap="none" strike="noStrike">
                <a:solidFill>
                  <a:srgbClr val="B8FE6D"/>
                </a:solidFill>
                <a:latin typeface="Inter"/>
                <a:ea typeface="Inter"/>
                <a:cs typeface="Inter"/>
                <a:sym typeface="Inter"/>
              </a:rPr>
              <a:t>ALLOWLIST + ARGUMENTOS VALIDADOS</a:t>
            </a:r>
            <a:endParaRPr b="0" i="0" sz="1780" u="none" cap="none" strike="noStrike">
              <a:solidFill>
                <a:schemeClr val="dk1"/>
              </a:solidFill>
              <a:latin typeface="Inter"/>
              <a:ea typeface="Inter"/>
              <a:cs typeface="Inter"/>
              <a:sym typeface="Inter"/>
            </a:endParaRPr>
          </a:p>
        </p:txBody>
      </p:sp>
      <p:sp>
        <p:nvSpPr>
          <p:cNvPr id="125" name="Google Shape;125;p4"/>
          <p:cNvSpPr/>
          <p:nvPr/>
        </p:nvSpPr>
        <p:spPr>
          <a:xfrm>
            <a:off x="5788152" y="5367528"/>
            <a:ext cx="5230368" cy="26517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F3F8FB"/>
              </a:buClr>
              <a:buSzPts val="1550"/>
              <a:buFont typeface="Inter"/>
              <a:buNone/>
            </a:pPr>
            <a:r>
              <a:rPr b="1" i="0" lang="en-US" sz="1550" u="none" cap="none" strike="noStrike">
                <a:solidFill>
                  <a:srgbClr val="F3F8FB"/>
                </a:solidFill>
                <a:latin typeface="Inter"/>
                <a:ea typeface="Inter"/>
                <a:cs typeface="Inter"/>
                <a:sym typeface="Inter"/>
              </a:rPr>
              <a:t>MAX_ITER 8   ·   8 calls/rol   ·   12 calls/turno</a:t>
            </a:r>
            <a:endParaRPr b="0" i="0" sz="1550" u="none" cap="none" strike="noStrike">
              <a:solidFill>
                <a:schemeClr val="dk1"/>
              </a:solidFill>
              <a:latin typeface="Inter"/>
              <a:ea typeface="Inter"/>
              <a:cs typeface="Inter"/>
              <a:sym typeface="Inter"/>
            </a:endParaRPr>
          </a:p>
        </p:txBody>
      </p:sp>
      <p:sp>
        <p:nvSpPr>
          <p:cNvPr id="126" name="Google Shape;126;p4"/>
          <p:cNvSpPr/>
          <p:nvPr/>
        </p:nvSpPr>
        <p:spPr>
          <a:xfrm>
            <a:off x="996691" y="4423434"/>
            <a:ext cx="128100" cy="128100"/>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234435" y="4281702"/>
            <a:ext cx="4206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8FB"/>
              </a:buClr>
              <a:buSzPts val="1710"/>
              <a:buFont typeface="Inter"/>
              <a:buNone/>
            </a:pPr>
            <a:r>
              <a:rPr b="1" i="0" lang="en-US" sz="1710" u="none" cap="none" strike="noStrike">
                <a:solidFill>
                  <a:srgbClr val="F3F8FB"/>
                </a:solidFill>
                <a:latin typeface="Inter"/>
                <a:ea typeface="Inter"/>
                <a:cs typeface="Inter"/>
                <a:sym typeface="Inter"/>
              </a:rPr>
              <a:t>hora_actual</a:t>
            </a:r>
            <a:endParaRPr b="0" i="0" sz="1710" u="none" cap="none" strike="noStrike">
              <a:solidFill>
                <a:schemeClr val="dk1"/>
              </a:solidFill>
              <a:latin typeface="Inter"/>
              <a:ea typeface="Inter"/>
              <a:cs typeface="Inter"/>
              <a:sym typeface="Inter"/>
            </a:endParaRPr>
          </a:p>
        </p:txBody>
      </p:sp>
      <p:sp>
        <p:nvSpPr>
          <p:cNvPr id="128" name="Google Shape;128;p4"/>
          <p:cNvSpPr/>
          <p:nvPr/>
        </p:nvSpPr>
        <p:spPr>
          <a:xfrm>
            <a:off x="1234435" y="4665750"/>
            <a:ext cx="4206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DB0"/>
              </a:buClr>
              <a:buSzPts val="1220"/>
              <a:buFont typeface="Inter"/>
              <a:buNone/>
            </a:pPr>
            <a:r>
              <a:rPr lang="en-US" sz="1220">
                <a:solidFill>
                  <a:srgbClr val="899DB0"/>
                </a:solidFill>
                <a:latin typeface="Inter"/>
                <a:ea typeface="Inter"/>
                <a:cs typeface="Inter"/>
                <a:sym typeface="Inter"/>
              </a:rPr>
              <a:t>Zona horaria = </a:t>
            </a:r>
            <a:r>
              <a:rPr b="0" i="0" lang="en-US" sz="1220" u="none" cap="none" strike="noStrike">
                <a:solidFill>
                  <a:srgbClr val="899DB0"/>
                </a:solidFill>
                <a:latin typeface="Inter"/>
                <a:ea typeface="Inter"/>
                <a:cs typeface="Inter"/>
                <a:sym typeface="Inter"/>
              </a:rPr>
              <a:t>Europe/Madrid</a:t>
            </a:r>
            <a:endParaRPr b="0" i="0" sz="1220" u="none" cap="none" strike="noStrike">
              <a:solidFill>
                <a:schemeClr val="dk1"/>
              </a:solidFill>
              <a:latin typeface="Inter"/>
              <a:ea typeface="Inter"/>
              <a:cs typeface="Inter"/>
              <a:sym typeface="Inter"/>
            </a:endParaRPr>
          </a:p>
        </p:txBody>
      </p:sp>
      <p:sp>
        <p:nvSpPr>
          <p:cNvPr id="129" name="Google Shape;129;p4"/>
          <p:cNvSpPr/>
          <p:nvPr/>
        </p:nvSpPr>
        <p:spPr>
          <a:xfrm>
            <a:off x="997375" y="4418263"/>
            <a:ext cx="128100" cy="128100"/>
          </a:xfrm>
          <a:prstGeom prst="ellipse">
            <a:avLst/>
          </a:prstGeom>
          <a:solidFill>
            <a:srgbClr val="20D9B2"/>
          </a:solidFill>
          <a:ln cap="flat" cmpd="sng" w="12700">
            <a:solidFill>
              <a:srgbClr val="20D9B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134" name="Shape 134"/>
        <p:cNvGrpSpPr/>
        <p:nvPr/>
      </p:nvGrpSpPr>
      <p:grpSpPr>
        <a:xfrm>
          <a:off x="0" y="0"/>
          <a:ext cx="0" cy="0"/>
          <a:chOff x="0" y="0"/>
          <a:chExt cx="0" cy="0"/>
        </a:xfrm>
      </p:grpSpPr>
      <p:cxnSp>
        <p:nvCxnSpPr>
          <p:cNvPr id="135" name="Google Shape;135;p5"/>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136" name="Google Shape;136;p5"/>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137" name="Google Shape;137;p5"/>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138" name="Google Shape;138;p5"/>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SÍNTESIS SEGURA</a:t>
            </a:r>
            <a:endParaRPr b="0" i="0" sz="1050" u="none" cap="none" strike="noStrike">
              <a:solidFill>
                <a:schemeClr val="dk1"/>
              </a:solidFill>
              <a:latin typeface="Inter"/>
              <a:ea typeface="Inter"/>
              <a:cs typeface="Inter"/>
              <a:sym typeface="Inter"/>
            </a:endParaRPr>
          </a:p>
        </p:txBody>
      </p:sp>
      <p:sp>
        <p:nvSpPr>
          <p:cNvPr id="139" name="Google Shape;139;p5"/>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La respuesta sale de evidencias, no de intuiciones</a:t>
            </a:r>
            <a:endParaRPr b="0" i="0" sz="3150" u="none" cap="none" strike="noStrike">
              <a:solidFill>
                <a:schemeClr val="dk1"/>
              </a:solidFill>
              <a:latin typeface="Inter"/>
              <a:ea typeface="Inter"/>
              <a:cs typeface="Inter"/>
              <a:sym typeface="Inter"/>
            </a:endParaRPr>
          </a:p>
        </p:txBody>
      </p:sp>
      <p:sp>
        <p:nvSpPr>
          <p:cNvPr id="140" name="Google Shape;140;p5"/>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La precisión documental importa más que completar siempre una respuesta</a:t>
            </a:r>
            <a:endParaRPr b="0" i="0" sz="1350" u="none" cap="none" strike="noStrike">
              <a:solidFill>
                <a:schemeClr val="dk1"/>
              </a:solidFill>
              <a:latin typeface="Inter"/>
              <a:ea typeface="Inter"/>
              <a:cs typeface="Inter"/>
              <a:sym typeface="Inter"/>
            </a:endParaRPr>
          </a:p>
        </p:txBody>
      </p:sp>
      <p:sp>
        <p:nvSpPr>
          <p:cNvPr id="141" name="Google Shape;141;p5"/>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05 / 08</a:t>
            </a:r>
            <a:endParaRPr b="0" i="0" sz="1100" u="none" cap="none" strike="noStrike">
              <a:solidFill>
                <a:schemeClr val="dk1"/>
              </a:solidFill>
              <a:latin typeface="Inter"/>
              <a:ea typeface="Inter"/>
              <a:cs typeface="Inter"/>
              <a:sym typeface="Inter"/>
            </a:endParaRPr>
          </a:p>
        </p:txBody>
      </p:sp>
      <p:sp>
        <p:nvSpPr>
          <p:cNvPr id="142" name="Google Shape;142;p5"/>
          <p:cNvSpPr/>
          <p:nvPr/>
        </p:nvSpPr>
        <p:spPr>
          <a:xfrm>
            <a:off x="411463" y="2103120"/>
            <a:ext cx="3566100" cy="1965900"/>
          </a:xfrm>
          <a:prstGeom prst="roundRect">
            <a:avLst>
              <a:gd fmla="val 8372"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667495" y="2423160"/>
            <a:ext cx="173700" cy="173700"/>
          </a:xfrm>
          <a:prstGeom prst="ellipse">
            <a:avLst/>
          </a:prstGeom>
          <a:solidFill>
            <a:srgbClr val="20D9B2"/>
          </a:solidFill>
          <a:ln cap="flat" cmpd="sng" w="12700">
            <a:solidFill>
              <a:srgbClr val="20D9B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950959" y="2331720"/>
            <a:ext cx="27432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2100"/>
              <a:buFont typeface="Inter"/>
              <a:buNone/>
            </a:pPr>
            <a:r>
              <a:rPr b="1" i="0" lang="en-US" sz="2100" u="none" cap="none" strike="noStrike">
                <a:solidFill>
                  <a:srgbClr val="20D9B2"/>
                </a:solidFill>
                <a:latin typeface="Inter"/>
                <a:ea typeface="Inter"/>
                <a:cs typeface="Inter"/>
                <a:sym typeface="Inter"/>
              </a:rPr>
              <a:t>RAG</a:t>
            </a:r>
            <a:endParaRPr b="0" i="0" sz="2100" u="none" cap="none" strike="noStrike">
              <a:solidFill>
                <a:schemeClr val="dk1"/>
              </a:solidFill>
              <a:latin typeface="Inter"/>
              <a:ea typeface="Inter"/>
              <a:cs typeface="Inter"/>
              <a:sym typeface="Inter"/>
            </a:endParaRPr>
          </a:p>
        </p:txBody>
      </p:sp>
      <p:sp>
        <p:nvSpPr>
          <p:cNvPr id="145" name="Google Shape;145;p5"/>
          <p:cNvSpPr/>
          <p:nvPr/>
        </p:nvSpPr>
        <p:spPr>
          <a:xfrm>
            <a:off x="685783" y="2916936"/>
            <a:ext cx="3054000" cy="87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Respuesta · citas · fuentes</a:t>
            </a:r>
            <a:endParaRPr b="0" i="0" sz="144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Abstención · motivo</a:t>
            </a:r>
            <a:endParaRPr b="0" i="0" sz="1440" u="none" cap="none" strike="noStrike">
              <a:solidFill>
                <a:schemeClr val="dk1"/>
              </a:solidFill>
              <a:latin typeface="Inter"/>
              <a:ea typeface="Inter"/>
              <a:cs typeface="Inter"/>
              <a:sym typeface="Inter"/>
            </a:endParaRPr>
          </a:p>
        </p:txBody>
      </p:sp>
      <p:sp>
        <p:nvSpPr>
          <p:cNvPr id="146" name="Google Shape;146;p5"/>
          <p:cNvSpPr/>
          <p:nvPr/>
        </p:nvSpPr>
        <p:spPr>
          <a:xfrm>
            <a:off x="4315968" y="2103120"/>
            <a:ext cx="3566160" cy="1965960"/>
          </a:xfrm>
          <a:prstGeom prst="roundRect">
            <a:avLst>
              <a:gd fmla="val 8372"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4572000" y="2423160"/>
            <a:ext cx="173736" cy="173736"/>
          </a:xfrm>
          <a:prstGeom prst="ellipse">
            <a:avLst/>
          </a:prstGeom>
          <a:solidFill>
            <a:srgbClr val="4CACFF"/>
          </a:solidFill>
          <a:ln cap="flat" cmpd="sng" w="12700">
            <a:solidFill>
              <a:srgbClr val="4C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4855464" y="2331720"/>
            <a:ext cx="27432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CACFF"/>
              </a:buClr>
              <a:buSzPts val="2100"/>
              <a:buFont typeface="Inter"/>
              <a:buNone/>
            </a:pPr>
            <a:r>
              <a:rPr b="1" i="0" lang="en-US" sz="2100" u="none" cap="none" strike="noStrike">
                <a:solidFill>
                  <a:srgbClr val="4CACFF"/>
                </a:solidFill>
                <a:latin typeface="Inter"/>
                <a:ea typeface="Inter"/>
                <a:cs typeface="Inter"/>
                <a:sym typeface="Inter"/>
              </a:rPr>
              <a:t>API + HORA</a:t>
            </a:r>
            <a:endParaRPr b="0" i="0" sz="2100" u="none" cap="none" strike="noStrike">
              <a:solidFill>
                <a:schemeClr val="dk1"/>
              </a:solidFill>
              <a:latin typeface="Inter"/>
              <a:ea typeface="Inter"/>
              <a:cs typeface="Inter"/>
              <a:sym typeface="Inter"/>
            </a:endParaRPr>
          </a:p>
        </p:txBody>
      </p:sp>
      <p:sp>
        <p:nvSpPr>
          <p:cNvPr id="149" name="Google Shape;149;p5"/>
          <p:cNvSpPr/>
          <p:nvPr/>
        </p:nvSpPr>
        <p:spPr>
          <a:xfrm>
            <a:off x="4590288" y="2916936"/>
            <a:ext cx="3054096" cy="87782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Coordenadas voluntarias</a:t>
            </a:r>
            <a:endParaRPr b="0" i="0" sz="144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Distancia Haversine</a:t>
            </a:r>
            <a:endParaRPr b="0" i="0" sz="144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Horario documentado</a:t>
            </a:r>
            <a:endParaRPr b="0" i="0" sz="1440" u="none" cap="none" strike="noStrike">
              <a:solidFill>
                <a:schemeClr val="dk1"/>
              </a:solidFill>
              <a:latin typeface="Inter"/>
              <a:ea typeface="Inter"/>
              <a:cs typeface="Inter"/>
              <a:sym typeface="Inter"/>
            </a:endParaRPr>
          </a:p>
        </p:txBody>
      </p:sp>
      <p:sp>
        <p:nvSpPr>
          <p:cNvPr id="150" name="Google Shape;150;p5"/>
          <p:cNvSpPr/>
          <p:nvPr/>
        </p:nvSpPr>
        <p:spPr>
          <a:xfrm>
            <a:off x="8147298" y="2103145"/>
            <a:ext cx="3566100" cy="1965900"/>
          </a:xfrm>
          <a:prstGeom prst="roundRect">
            <a:avLst>
              <a:gd fmla="val 8372"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8421630" y="2414035"/>
            <a:ext cx="173700" cy="173700"/>
          </a:xfrm>
          <a:prstGeom prst="ellipse">
            <a:avLst/>
          </a:prstGeom>
          <a:solidFill>
            <a:srgbClr val="B8FE6D"/>
          </a:solidFill>
          <a:ln cap="flat" cmpd="sng" w="12700">
            <a:solidFill>
              <a:srgbClr val="B8FE6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8686794" y="2331745"/>
            <a:ext cx="27432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2100"/>
              <a:buFont typeface="Inter"/>
              <a:buNone/>
            </a:pPr>
            <a:r>
              <a:rPr b="1" i="0" lang="en-US" sz="2100" u="none" cap="none" strike="noStrike">
                <a:solidFill>
                  <a:srgbClr val="B8FE6D"/>
                </a:solidFill>
                <a:latin typeface="Inter"/>
                <a:ea typeface="Inter"/>
                <a:cs typeface="Inter"/>
                <a:sym typeface="Inter"/>
              </a:rPr>
              <a:t>VALIDACIÓN</a:t>
            </a:r>
            <a:endParaRPr b="0" i="0" sz="2100" u="none" cap="none" strike="noStrike">
              <a:solidFill>
                <a:schemeClr val="dk1"/>
              </a:solidFill>
              <a:latin typeface="Inter"/>
              <a:ea typeface="Inter"/>
              <a:cs typeface="Inter"/>
              <a:sym typeface="Inter"/>
            </a:endParaRPr>
          </a:p>
        </p:txBody>
      </p:sp>
      <p:sp>
        <p:nvSpPr>
          <p:cNvPr id="153" name="Google Shape;153;p5"/>
          <p:cNvSpPr/>
          <p:nvPr/>
        </p:nvSpPr>
        <p:spPr>
          <a:xfrm>
            <a:off x="8421618" y="2916961"/>
            <a:ext cx="3054000" cy="87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Evidencia suficiente,</a:t>
            </a:r>
            <a:endParaRPr b="0" i="0" sz="144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B8CAD5"/>
              </a:buClr>
              <a:buSzPts val="1440"/>
              <a:buFont typeface="Inter"/>
              <a:buNone/>
            </a:pPr>
            <a:r>
              <a:rPr b="0" i="0" lang="en-US" sz="1440" u="none" cap="none" strike="noStrike">
                <a:solidFill>
                  <a:srgbClr val="B8CAD5"/>
                </a:solidFill>
                <a:latin typeface="Inter"/>
                <a:ea typeface="Inter"/>
                <a:cs typeface="Inter"/>
                <a:sym typeface="Inter"/>
              </a:rPr>
              <a:t>parcial o insuficiente</a:t>
            </a:r>
            <a:endParaRPr b="0" i="0" sz="1440" u="none" cap="none" strike="noStrike">
              <a:solidFill>
                <a:schemeClr val="dk1"/>
              </a:solidFill>
              <a:latin typeface="Inter"/>
              <a:ea typeface="Inter"/>
              <a:cs typeface="Inter"/>
              <a:sym typeface="Inter"/>
            </a:endParaRPr>
          </a:p>
        </p:txBody>
      </p:sp>
      <p:cxnSp>
        <p:nvCxnSpPr>
          <p:cNvPr id="154" name="Google Shape;154;p5"/>
          <p:cNvCxnSpPr>
            <a:endCxn id="146" idx="1"/>
          </p:cNvCxnSpPr>
          <p:nvPr/>
        </p:nvCxnSpPr>
        <p:spPr>
          <a:xfrm>
            <a:off x="4023468" y="3081600"/>
            <a:ext cx="292500" cy="4500"/>
          </a:xfrm>
          <a:prstGeom prst="straightConnector1">
            <a:avLst/>
          </a:prstGeom>
          <a:noFill/>
          <a:ln cap="flat" cmpd="sng" w="25400">
            <a:solidFill>
              <a:srgbClr val="20D9B2"/>
            </a:solidFill>
            <a:prstDash val="solid"/>
            <a:round/>
            <a:headEnd len="sm" w="sm" type="none"/>
            <a:tailEnd len="med" w="med" type="triangle"/>
          </a:ln>
        </p:spPr>
      </p:cxnSp>
      <p:cxnSp>
        <p:nvCxnSpPr>
          <p:cNvPr id="155" name="Google Shape;155;p5"/>
          <p:cNvCxnSpPr>
            <a:endCxn id="150" idx="1"/>
          </p:cNvCxnSpPr>
          <p:nvPr/>
        </p:nvCxnSpPr>
        <p:spPr>
          <a:xfrm>
            <a:off x="7882098" y="3081595"/>
            <a:ext cx="265200" cy="4500"/>
          </a:xfrm>
          <a:prstGeom prst="straightConnector1">
            <a:avLst/>
          </a:prstGeom>
          <a:noFill/>
          <a:ln cap="flat" cmpd="sng" w="25400">
            <a:solidFill>
              <a:srgbClr val="B8FE6D"/>
            </a:solidFill>
            <a:prstDash val="solid"/>
            <a:round/>
            <a:headEnd len="sm" w="sm" type="none"/>
            <a:tailEnd len="med" w="med" type="triangle"/>
          </a:ln>
        </p:spPr>
      </p:cxnSp>
      <p:sp>
        <p:nvSpPr>
          <p:cNvPr id="156" name="Google Shape;156;p5"/>
          <p:cNvSpPr/>
          <p:nvPr/>
        </p:nvSpPr>
        <p:spPr>
          <a:xfrm>
            <a:off x="1856232" y="4581144"/>
            <a:ext cx="8485632" cy="868680"/>
          </a:xfrm>
          <a:prstGeom prst="roundRect">
            <a:avLst>
              <a:gd fmla="val 18947" name="adj"/>
            </a:avLst>
          </a:prstGeom>
          <a:solidFill>
            <a:srgbClr val="19362F"/>
          </a:solidFill>
          <a:ln cap="flat" cmpd="sng" w="12700">
            <a:solidFill>
              <a:srgbClr val="19362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2185416" y="4855464"/>
            <a:ext cx="7827264"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8FE6D"/>
              </a:buClr>
              <a:buSzPts val="2200"/>
              <a:buFont typeface="Inter"/>
              <a:buNone/>
            </a:pPr>
            <a:r>
              <a:rPr b="1" i="0" lang="en-US" sz="2200" u="none" cap="none" strike="noStrike">
                <a:solidFill>
                  <a:srgbClr val="B8FE6D"/>
                </a:solidFill>
                <a:latin typeface="Inter"/>
                <a:ea typeface="Inter"/>
                <a:cs typeface="Inter"/>
                <a:sym typeface="Inter"/>
              </a:rPr>
              <a:t>RESPUESTA + FUENTES + LÍMITES + PLAN</a:t>
            </a:r>
            <a:endParaRPr b="0" i="0" sz="2200" u="none" cap="none" strike="noStrike">
              <a:solidFill>
                <a:schemeClr val="dk1"/>
              </a:solidFill>
              <a:latin typeface="Inter"/>
              <a:ea typeface="Inter"/>
              <a:cs typeface="Inter"/>
              <a:sym typeface="Inter"/>
            </a:endParaRPr>
          </a:p>
        </p:txBody>
      </p:sp>
      <p:sp>
        <p:nvSpPr>
          <p:cNvPr id="158" name="Google Shape;158;p5"/>
          <p:cNvSpPr/>
          <p:nvPr/>
        </p:nvSpPr>
        <p:spPr>
          <a:xfrm>
            <a:off x="1271016" y="5669280"/>
            <a:ext cx="950976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8CAD5"/>
              </a:buClr>
              <a:buSzPts val="1560"/>
              <a:buFont typeface="Inter"/>
              <a:buNone/>
            </a:pPr>
            <a:r>
              <a:rPr b="0" i="0" lang="en-US" sz="1560" u="none" cap="none" strike="noStrike">
                <a:solidFill>
                  <a:srgbClr val="B8CAD5"/>
                </a:solidFill>
                <a:latin typeface="Inter"/>
                <a:ea typeface="Inter"/>
                <a:cs typeface="Inter"/>
                <a:sym typeface="Inter"/>
              </a:rPr>
              <a:t>Si faltan pruebas: aclarar o abstenerse. Un error técnico ≠ falta de evidencia.</a:t>
            </a:r>
            <a:endParaRPr b="0" i="0" sz="1560"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163" name="Shape 163"/>
        <p:cNvGrpSpPr/>
        <p:nvPr/>
      </p:nvGrpSpPr>
      <p:grpSpPr>
        <a:xfrm>
          <a:off x="0" y="0"/>
          <a:ext cx="0" cy="0"/>
          <a:chOff x="0" y="0"/>
          <a:chExt cx="0" cy="0"/>
        </a:xfrm>
      </p:grpSpPr>
      <p:cxnSp>
        <p:nvCxnSpPr>
          <p:cNvPr id="164" name="Google Shape;164;p6"/>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165" name="Google Shape;165;p6"/>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166" name="Google Shape;166;p6"/>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167" name="Google Shape;167;p6"/>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ESTADO PERSISTIDO EN EL PROCESO</a:t>
            </a:r>
            <a:endParaRPr b="0" i="0" sz="1050" u="none" cap="none" strike="noStrike">
              <a:solidFill>
                <a:schemeClr val="dk1"/>
              </a:solidFill>
              <a:latin typeface="Inter"/>
              <a:ea typeface="Inter"/>
              <a:cs typeface="Inter"/>
              <a:sym typeface="Inter"/>
            </a:endParaRPr>
          </a:p>
        </p:txBody>
      </p:sp>
      <p:sp>
        <p:nvSpPr>
          <p:cNvPr id="168" name="Google Shape;168;p6"/>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HITL real, no un botón decorativo</a:t>
            </a:r>
            <a:endParaRPr b="0" i="0" sz="3150" u="none" cap="none" strike="noStrike">
              <a:solidFill>
                <a:schemeClr val="dk1"/>
              </a:solidFill>
              <a:latin typeface="Inter"/>
              <a:ea typeface="Inter"/>
              <a:cs typeface="Inter"/>
              <a:sym typeface="Inter"/>
            </a:endParaRPr>
          </a:p>
        </p:txBody>
      </p:sp>
      <p:sp>
        <p:nvSpPr>
          <p:cNvPr id="169" name="Google Shape;169;p6"/>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Checkpoint verificado antes de reanudar el grafo</a:t>
            </a:r>
            <a:endParaRPr b="0" i="0" sz="1350" u="none" cap="none" strike="noStrike">
              <a:solidFill>
                <a:schemeClr val="dk1"/>
              </a:solidFill>
              <a:latin typeface="Inter"/>
              <a:ea typeface="Inter"/>
              <a:cs typeface="Inter"/>
              <a:sym typeface="Inter"/>
            </a:endParaRPr>
          </a:p>
        </p:txBody>
      </p:sp>
      <p:sp>
        <p:nvSpPr>
          <p:cNvPr id="170" name="Google Shape;170;p6"/>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06 / 08</a:t>
            </a:r>
            <a:endParaRPr b="0" i="0" sz="1100" u="none" cap="none" strike="noStrike">
              <a:solidFill>
                <a:schemeClr val="dk1"/>
              </a:solidFill>
              <a:latin typeface="Inter"/>
              <a:ea typeface="Inter"/>
              <a:cs typeface="Inter"/>
              <a:sym typeface="Inter"/>
            </a:endParaRPr>
          </a:p>
        </p:txBody>
      </p:sp>
      <p:sp>
        <p:nvSpPr>
          <p:cNvPr id="171" name="Google Shape;171;p6"/>
          <p:cNvSpPr/>
          <p:nvPr/>
        </p:nvSpPr>
        <p:spPr>
          <a:xfrm>
            <a:off x="3419856" y="1865376"/>
            <a:ext cx="5358384" cy="859536"/>
          </a:xfrm>
          <a:prstGeom prst="roundRect">
            <a:avLst>
              <a:gd fmla="val 19149" name="adj"/>
            </a:avLst>
          </a:prstGeom>
          <a:solidFill>
            <a:srgbClr val="293B35"/>
          </a:solidFill>
          <a:ln cap="flat" cmpd="sng" w="12700">
            <a:solidFill>
              <a:srgbClr val="293B3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3867912" y="2084832"/>
            <a:ext cx="4462272"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D9B2"/>
              </a:buClr>
              <a:buSzPts val="2300"/>
              <a:buFont typeface="Inter"/>
              <a:buNone/>
            </a:pPr>
            <a:r>
              <a:rPr b="1" i="0" lang="en-US" sz="2300" u="none" cap="none" strike="noStrike">
                <a:solidFill>
                  <a:srgbClr val="20D9B2"/>
                </a:solidFill>
                <a:latin typeface="Inter"/>
                <a:ea typeface="Inter"/>
                <a:cs typeface="Inter"/>
                <a:sym typeface="Inter"/>
              </a:rPr>
              <a:t>MemorySaver  +  thread_id</a:t>
            </a:r>
            <a:endParaRPr b="0" i="0" sz="2300" u="none" cap="none" strike="noStrike">
              <a:solidFill>
                <a:schemeClr val="dk1"/>
              </a:solidFill>
              <a:latin typeface="Inter"/>
              <a:ea typeface="Inter"/>
              <a:cs typeface="Inter"/>
              <a:sym typeface="Inter"/>
            </a:endParaRPr>
          </a:p>
        </p:txBody>
      </p:sp>
      <p:cxnSp>
        <p:nvCxnSpPr>
          <p:cNvPr id="173" name="Google Shape;173;p6"/>
          <p:cNvCxnSpPr/>
          <p:nvPr/>
        </p:nvCxnSpPr>
        <p:spPr>
          <a:xfrm>
            <a:off x="6089904" y="2743200"/>
            <a:ext cx="0" cy="402336"/>
          </a:xfrm>
          <a:prstGeom prst="straightConnector1">
            <a:avLst/>
          </a:prstGeom>
          <a:noFill/>
          <a:ln cap="flat" cmpd="sng" w="31750">
            <a:solidFill>
              <a:srgbClr val="20D9B2"/>
            </a:solidFill>
            <a:prstDash val="solid"/>
            <a:round/>
            <a:headEnd len="sm" w="sm" type="none"/>
            <a:tailEnd len="med" w="med" type="triangle"/>
          </a:ln>
        </p:spPr>
      </p:cxnSp>
      <p:sp>
        <p:nvSpPr>
          <p:cNvPr id="174" name="Google Shape;174;p6"/>
          <p:cNvSpPr/>
          <p:nvPr/>
        </p:nvSpPr>
        <p:spPr>
          <a:xfrm>
            <a:off x="3986784" y="3200400"/>
            <a:ext cx="4206240" cy="722376"/>
          </a:xfrm>
          <a:prstGeom prst="roundRect">
            <a:avLst>
              <a:gd fmla="val 22785" name="adj"/>
            </a:avLst>
          </a:prstGeom>
          <a:solidFill>
            <a:srgbClr val="3D3327"/>
          </a:solidFill>
          <a:ln cap="flat" cmpd="sng" w="12700">
            <a:solidFill>
              <a:srgbClr val="3D332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4224528" y="3392424"/>
            <a:ext cx="3730752" cy="32918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CB79"/>
              </a:buClr>
              <a:buSzPts val="1860"/>
              <a:buFont typeface="Inter"/>
              <a:buNone/>
            </a:pPr>
            <a:r>
              <a:rPr b="1" i="0" lang="en-US" sz="1860" u="none" cap="none" strike="noStrike">
                <a:solidFill>
                  <a:srgbClr val="FFCB79"/>
                </a:solidFill>
                <a:latin typeface="Inter"/>
                <a:ea typeface="Inter"/>
                <a:cs typeface="Inter"/>
                <a:sym typeface="Inter"/>
              </a:rPr>
              <a:t>PAUSA ANTES DE «APLICAR»</a:t>
            </a:r>
            <a:endParaRPr b="0" i="0" sz="1860" u="none" cap="none" strike="noStrike">
              <a:solidFill>
                <a:schemeClr val="dk1"/>
              </a:solidFill>
              <a:latin typeface="Inter"/>
              <a:ea typeface="Inter"/>
              <a:cs typeface="Inter"/>
              <a:sym typeface="Inter"/>
            </a:endParaRPr>
          </a:p>
        </p:txBody>
      </p:sp>
      <p:cxnSp>
        <p:nvCxnSpPr>
          <p:cNvPr id="176" name="Google Shape;176;p6"/>
          <p:cNvCxnSpPr/>
          <p:nvPr/>
        </p:nvCxnSpPr>
        <p:spPr>
          <a:xfrm flipH="1">
            <a:off x="3758184" y="3950208"/>
            <a:ext cx="2331720" cy="402336"/>
          </a:xfrm>
          <a:prstGeom prst="straightConnector1">
            <a:avLst/>
          </a:prstGeom>
          <a:noFill/>
          <a:ln cap="flat" cmpd="sng" w="25400">
            <a:solidFill>
              <a:srgbClr val="2A4156"/>
            </a:solidFill>
            <a:prstDash val="solid"/>
            <a:round/>
            <a:headEnd len="sm" w="sm" type="none"/>
            <a:tailEnd len="med" w="med" type="triangle"/>
          </a:ln>
        </p:spPr>
      </p:cxnSp>
      <p:cxnSp>
        <p:nvCxnSpPr>
          <p:cNvPr id="177" name="Google Shape;177;p6"/>
          <p:cNvCxnSpPr/>
          <p:nvPr/>
        </p:nvCxnSpPr>
        <p:spPr>
          <a:xfrm>
            <a:off x="6089904" y="3950208"/>
            <a:ext cx="2304288" cy="402336"/>
          </a:xfrm>
          <a:prstGeom prst="straightConnector1">
            <a:avLst/>
          </a:prstGeom>
          <a:noFill/>
          <a:ln cap="flat" cmpd="sng" w="25400">
            <a:solidFill>
              <a:srgbClr val="2A4156"/>
            </a:solidFill>
            <a:prstDash val="solid"/>
            <a:round/>
            <a:headEnd len="sm" w="sm" type="none"/>
            <a:tailEnd len="med" w="med" type="triangle"/>
          </a:ln>
        </p:spPr>
      </p:cxnSp>
      <p:sp>
        <p:nvSpPr>
          <p:cNvPr id="178" name="Google Shape;178;p6"/>
          <p:cNvSpPr/>
          <p:nvPr/>
        </p:nvSpPr>
        <p:spPr>
          <a:xfrm>
            <a:off x="795528" y="4407408"/>
            <a:ext cx="5001768" cy="1152144"/>
          </a:xfrm>
          <a:prstGeom prst="roundRect">
            <a:avLst>
              <a:gd fmla="val 14286" name="adj"/>
            </a:avLst>
          </a:prstGeom>
          <a:solidFill>
            <a:srgbClr val="18473B"/>
          </a:solidFill>
          <a:ln cap="flat" cmpd="sng" w="12700">
            <a:solidFill>
              <a:srgbClr val="18473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1115568" y="4599432"/>
            <a:ext cx="4443984"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2200"/>
              <a:buFont typeface="Inter"/>
              <a:buNone/>
            </a:pPr>
            <a:r>
              <a:rPr b="1" i="0" lang="en-US" sz="2200" u="none" cap="none" strike="noStrike">
                <a:solidFill>
                  <a:srgbClr val="B8FE6D"/>
                </a:solidFill>
                <a:latin typeface="Inter"/>
                <a:ea typeface="Inter"/>
                <a:cs typeface="Inter"/>
                <a:sym typeface="Inter"/>
              </a:rPr>
              <a:t>APROBAR</a:t>
            </a:r>
            <a:endParaRPr b="0" i="0" sz="2200" u="none" cap="none" strike="noStrike">
              <a:solidFill>
                <a:schemeClr val="dk1"/>
              </a:solidFill>
              <a:latin typeface="Inter"/>
              <a:ea typeface="Inter"/>
              <a:cs typeface="Inter"/>
              <a:sym typeface="Inter"/>
            </a:endParaRPr>
          </a:p>
        </p:txBody>
      </p:sp>
      <p:sp>
        <p:nvSpPr>
          <p:cNvPr id="180" name="Google Shape;180;p6"/>
          <p:cNvSpPr/>
          <p:nvPr/>
        </p:nvSpPr>
        <p:spPr>
          <a:xfrm>
            <a:off x="1115568" y="5056632"/>
            <a:ext cx="4443984" cy="26517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520"/>
              <a:buFont typeface="Inter"/>
              <a:buNone/>
            </a:pPr>
            <a:r>
              <a:rPr b="0" i="0" lang="en-US" sz="1520" u="none" cap="none" strike="noStrike">
                <a:solidFill>
                  <a:srgbClr val="B8CAD5"/>
                </a:solidFill>
                <a:latin typeface="Inter"/>
                <a:ea typeface="Inter"/>
                <a:cs typeface="Inter"/>
                <a:sym typeface="Inter"/>
              </a:rPr>
              <a:t>Registrar decisión  ·  done = true</a:t>
            </a:r>
            <a:endParaRPr b="0" i="0" sz="1520" u="none" cap="none" strike="noStrike">
              <a:solidFill>
                <a:schemeClr val="dk1"/>
              </a:solidFill>
              <a:latin typeface="Inter"/>
              <a:ea typeface="Inter"/>
              <a:cs typeface="Inter"/>
              <a:sym typeface="Inter"/>
            </a:endParaRPr>
          </a:p>
        </p:txBody>
      </p:sp>
      <p:sp>
        <p:nvSpPr>
          <p:cNvPr id="181" name="Google Shape;181;p6"/>
          <p:cNvSpPr/>
          <p:nvPr/>
        </p:nvSpPr>
        <p:spPr>
          <a:xfrm>
            <a:off x="6400800" y="4407408"/>
            <a:ext cx="5001768" cy="1152144"/>
          </a:xfrm>
          <a:prstGeom prst="roundRect">
            <a:avLst>
              <a:gd fmla="val 14286" name="adj"/>
            </a:avLst>
          </a:prstGeom>
          <a:solidFill>
            <a:srgbClr val="3D3039"/>
          </a:solidFill>
          <a:ln cap="flat" cmpd="sng" w="12700">
            <a:solidFill>
              <a:srgbClr val="3D30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6720840" y="4599432"/>
            <a:ext cx="4443984"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877C"/>
              </a:buClr>
              <a:buSzPts val="2200"/>
              <a:buFont typeface="Inter"/>
              <a:buNone/>
            </a:pPr>
            <a:r>
              <a:rPr b="1" i="0" lang="en-US" sz="2200" u="none" cap="none" strike="noStrike">
                <a:solidFill>
                  <a:srgbClr val="FF877C"/>
                </a:solidFill>
                <a:latin typeface="Inter"/>
                <a:ea typeface="Inter"/>
                <a:cs typeface="Inter"/>
                <a:sym typeface="Inter"/>
              </a:rPr>
              <a:t>RECHAZAR</a:t>
            </a:r>
            <a:endParaRPr b="0" i="0" sz="2200" u="none" cap="none" strike="noStrike">
              <a:solidFill>
                <a:schemeClr val="dk1"/>
              </a:solidFill>
              <a:latin typeface="Inter"/>
              <a:ea typeface="Inter"/>
              <a:cs typeface="Inter"/>
              <a:sym typeface="Inter"/>
            </a:endParaRPr>
          </a:p>
        </p:txBody>
      </p:sp>
      <p:sp>
        <p:nvSpPr>
          <p:cNvPr id="183" name="Google Shape;183;p6"/>
          <p:cNvSpPr/>
          <p:nvPr/>
        </p:nvSpPr>
        <p:spPr>
          <a:xfrm>
            <a:off x="6720840" y="5056632"/>
            <a:ext cx="4453128" cy="26517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520"/>
              <a:buFont typeface="Inter"/>
              <a:buNone/>
            </a:pPr>
            <a:r>
              <a:rPr b="0" i="0" lang="en-US" sz="1520" u="none" cap="none" strike="noStrike">
                <a:solidFill>
                  <a:srgbClr val="B8CAD5"/>
                </a:solidFill>
                <a:latin typeface="Inter"/>
                <a:ea typeface="Inter"/>
                <a:cs typeface="Inter"/>
                <a:sym typeface="Inter"/>
              </a:rPr>
              <a:t>Retirar plan  ·  mismo hilo  ·  reformular</a:t>
            </a:r>
            <a:endParaRPr b="0" i="0" sz="1520" u="none" cap="none" strike="noStrike">
              <a:solidFill>
                <a:schemeClr val="dk1"/>
              </a:solidFill>
              <a:latin typeface="Inter"/>
              <a:ea typeface="Inter"/>
              <a:cs typeface="Inter"/>
              <a:sym typeface="Inter"/>
            </a:endParaRPr>
          </a:p>
        </p:txBody>
      </p:sp>
      <p:sp>
        <p:nvSpPr>
          <p:cNvPr id="184" name="Google Shape;184;p6"/>
          <p:cNvSpPr/>
          <p:nvPr/>
        </p:nvSpPr>
        <p:spPr>
          <a:xfrm>
            <a:off x="1097280" y="5989320"/>
            <a:ext cx="9966960" cy="2834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99DB0"/>
              </a:buClr>
              <a:buSzPts val="1480"/>
              <a:buFont typeface="Inter"/>
              <a:buNone/>
            </a:pPr>
            <a:r>
              <a:rPr b="0" i="0" lang="en-US" sz="1480" u="none" cap="none" strike="noStrike">
                <a:solidFill>
                  <a:srgbClr val="899DB0"/>
                </a:solidFill>
                <a:latin typeface="Inter"/>
                <a:ea typeface="Inter"/>
                <a:cs typeface="Inter"/>
                <a:sym typeface="Inter"/>
              </a:rPr>
              <a:t>«Aplicar» registra aceptación/rechazo. No ejecuta acciones externas.</a:t>
            </a:r>
            <a:endParaRPr b="0" i="0" sz="148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189" name="Shape 189"/>
        <p:cNvGrpSpPr/>
        <p:nvPr/>
      </p:nvGrpSpPr>
      <p:grpSpPr>
        <a:xfrm>
          <a:off x="0" y="0"/>
          <a:ext cx="0" cy="0"/>
          <a:chOff x="0" y="0"/>
          <a:chExt cx="0" cy="0"/>
        </a:xfrm>
      </p:grpSpPr>
      <p:cxnSp>
        <p:nvCxnSpPr>
          <p:cNvPr id="190" name="Google Shape;190;p7"/>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191" name="Google Shape;191;p7"/>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PB02</a:t>
            </a:r>
            <a:endParaRPr b="0" i="0" sz="840" u="none" cap="none" strike="noStrike">
              <a:solidFill>
                <a:schemeClr val="dk1"/>
              </a:solidFill>
              <a:latin typeface="Inter"/>
              <a:ea typeface="Inter"/>
              <a:cs typeface="Inter"/>
              <a:sym typeface="Inter"/>
            </a:endParaRPr>
          </a:p>
        </p:txBody>
      </p:sp>
      <p:sp>
        <p:nvSpPr>
          <p:cNvPr id="192" name="Google Shape;192;p7"/>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193" name="Google Shape;193;p7"/>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INTEGRACIÓN Y OBSERVABILIDAD</a:t>
            </a:r>
            <a:endParaRPr b="0" i="0" sz="1050" u="none" cap="none" strike="noStrike">
              <a:solidFill>
                <a:schemeClr val="dk1"/>
              </a:solidFill>
              <a:latin typeface="Inter"/>
              <a:ea typeface="Inter"/>
              <a:cs typeface="Inter"/>
              <a:sym typeface="Inter"/>
            </a:endParaRPr>
          </a:p>
        </p:txBody>
      </p:sp>
      <p:sp>
        <p:nvSpPr>
          <p:cNvPr id="194" name="Google Shape;194;p7"/>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Dos clientes, un único contrato</a:t>
            </a:r>
            <a:endParaRPr b="0" i="0" sz="3150" u="none" cap="none" strike="noStrike">
              <a:solidFill>
                <a:schemeClr val="dk1"/>
              </a:solidFill>
              <a:latin typeface="Inter"/>
              <a:ea typeface="Inter"/>
              <a:cs typeface="Inter"/>
              <a:sym typeface="Inter"/>
            </a:endParaRPr>
          </a:p>
        </p:txBody>
      </p:sp>
      <p:sp>
        <p:nvSpPr>
          <p:cNvPr id="195" name="Google Shape;195;p7"/>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La interfaz presenta estados; no ejecuta tools directamente</a:t>
            </a:r>
            <a:endParaRPr b="0" i="0" sz="1350" u="none" cap="none" strike="noStrike">
              <a:solidFill>
                <a:schemeClr val="dk1"/>
              </a:solidFill>
              <a:latin typeface="Inter"/>
              <a:ea typeface="Inter"/>
              <a:cs typeface="Inter"/>
              <a:sym typeface="Inter"/>
            </a:endParaRPr>
          </a:p>
        </p:txBody>
      </p:sp>
      <p:sp>
        <p:nvSpPr>
          <p:cNvPr id="196" name="Google Shape;196;p7"/>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07 / 08</a:t>
            </a:r>
            <a:endParaRPr b="0" i="0" sz="1100" u="none" cap="none" strike="noStrike">
              <a:solidFill>
                <a:schemeClr val="dk1"/>
              </a:solidFill>
              <a:latin typeface="Inter"/>
              <a:ea typeface="Inter"/>
              <a:cs typeface="Inter"/>
              <a:sym typeface="Inter"/>
            </a:endParaRPr>
          </a:p>
        </p:txBody>
      </p:sp>
      <p:sp>
        <p:nvSpPr>
          <p:cNvPr id="197" name="Google Shape;197;p7"/>
          <p:cNvSpPr/>
          <p:nvPr/>
        </p:nvSpPr>
        <p:spPr>
          <a:xfrm>
            <a:off x="923544" y="2002536"/>
            <a:ext cx="2103120" cy="649224"/>
          </a:xfrm>
          <a:prstGeom prst="roundRect">
            <a:avLst>
              <a:gd fmla="val 25352" name="adj"/>
            </a:avLst>
          </a:prstGeom>
          <a:solidFill>
            <a:srgbClr val="172B42"/>
          </a:solidFill>
          <a:ln cap="flat" cmpd="sng" w="12700">
            <a:solidFill>
              <a:srgbClr val="172B4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042416" y="2167128"/>
            <a:ext cx="1865376"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D9B2"/>
              </a:buClr>
              <a:buSzPts val="2000"/>
              <a:buFont typeface="Inter"/>
              <a:buNone/>
            </a:pPr>
            <a:r>
              <a:rPr b="1" i="0" lang="en-US" sz="2000" u="none" cap="none" strike="noStrike">
                <a:solidFill>
                  <a:srgbClr val="20D9B2"/>
                </a:solidFill>
                <a:latin typeface="Inter"/>
                <a:ea typeface="Inter"/>
                <a:cs typeface="Inter"/>
                <a:sym typeface="Inter"/>
              </a:rPr>
              <a:t>Streamlit</a:t>
            </a:r>
            <a:endParaRPr b="0" i="0" sz="2000" u="none" cap="none" strike="noStrike">
              <a:solidFill>
                <a:schemeClr val="dk1"/>
              </a:solidFill>
              <a:latin typeface="Inter"/>
              <a:ea typeface="Inter"/>
              <a:cs typeface="Inter"/>
              <a:sym typeface="Inter"/>
            </a:endParaRPr>
          </a:p>
        </p:txBody>
      </p:sp>
      <p:cxnSp>
        <p:nvCxnSpPr>
          <p:cNvPr id="199" name="Google Shape;199;p7"/>
          <p:cNvCxnSpPr/>
          <p:nvPr/>
        </p:nvCxnSpPr>
        <p:spPr>
          <a:xfrm>
            <a:off x="1975104" y="2651760"/>
            <a:ext cx="1161288" cy="521208"/>
          </a:xfrm>
          <a:prstGeom prst="straightConnector1">
            <a:avLst/>
          </a:prstGeom>
          <a:noFill/>
          <a:ln cap="flat" cmpd="sng" w="22850">
            <a:solidFill>
              <a:srgbClr val="2A4156"/>
            </a:solidFill>
            <a:prstDash val="solid"/>
            <a:round/>
            <a:headEnd len="sm" w="sm" type="none"/>
            <a:tailEnd len="med" w="med" type="triangle"/>
          </a:ln>
        </p:spPr>
      </p:cxnSp>
      <p:sp>
        <p:nvSpPr>
          <p:cNvPr id="200" name="Google Shape;200;p7"/>
          <p:cNvSpPr/>
          <p:nvPr/>
        </p:nvSpPr>
        <p:spPr>
          <a:xfrm>
            <a:off x="3273552" y="2002536"/>
            <a:ext cx="2103120" cy="649224"/>
          </a:xfrm>
          <a:prstGeom prst="roundRect">
            <a:avLst>
              <a:gd fmla="val 25352" name="adj"/>
            </a:avLst>
          </a:prstGeom>
          <a:solidFill>
            <a:srgbClr val="172B42"/>
          </a:solidFill>
          <a:ln cap="flat" cmpd="sng" w="12700">
            <a:solidFill>
              <a:srgbClr val="172B4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3392424" y="2167128"/>
            <a:ext cx="1865376"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B9DFF"/>
              </a:buClr>
              <a:buSzPts val="2000"/>
              <a:buFont typeface="Inter"/>
              <a:buNone/>
            </a:pPr>
            <a:r>
              <a:rPr b="1" i="0" lang="en-US" sz="2000" u="none" cap="none" strike="noStrike">
                <a:solidFill>
                  <a:srgbClr val="BB9DFF"/>
                </a:solidFill>
                <a:latin typeface="Inter"/>
                <a:ea typeface="Inter"/>
                <a:cs typeface="Inter"/>
                <a:sym typeface="Inter"/>
              </a:rPr>
              <a:t>CLI</a:t>
            </a:r>
            <a:endParaRPr b="0" i="0" sz="2000" u="none" cap="none" strike="noStrike">
              <a:solidFill>
                <a:schemeClr val="dk1"/>
              </a:solidFill>
              <a:latin typeface="Inter"/>
              <a:ea typeface="Inter"/>
              <a:cs typeface="Inter"/>
              <a:sym typeface="Inter"/>
            </a:endParaRPr>
          </a:p>
        </p:txBody>
      </p:sp>
      <p:cxnSp>
        <p:nvCxnSpPr>
          <p:cNvPr id="202" name="Google Shape;202;p7"/>
          <p:cNvCxnSpPr/>
          <p:nvPr/>
        </p:nvCxnSpPr>
        <p:spPr>
          <a:xfrm flipH="1">
            <a:off x="3136392" y="2651760"/>
            <a:ext cx="1188720" cy="521208"/>
          </a:xfrm>
          <a:prstGeom prst="straightConnector1">
            <a:avLst/>
          </a:prstGeom>
          <a:noFill/>
          <a:ln cap="flat" cmpd="sng" w="22850">
            <a:solidFill>
              <a:srgbClr val="2A4156"/>
            </a:solidFill>
            <a:prstDash val="solid"/>
            <a:round/>
            <a:headEnd len="sm" w="sm" type="none"/>
            <a:tailEnd len="med" w="med" type="triangle"/>
          </a:ln>
        </p:spPr>
      </p:cxnSp>
      <p:sp>
        <p:nvSpPr>
          <p:cNvPr id="203" name="Google Shape;203;p7"/>
          <p:cNvSpPr/>
          <p:nvPr/>
        </p:nvSpPr>
        <p:spPr>
          <a:xfrm>
            <a:off x="1609344" y="3246120"/>
            <a:ext cx="3246120" cy="649224"/>
          </a:xfrm>
          <a:prstGeom prst="roundRect">
            <a:avLst>
              <a:gd fmla="val 25352" name="adj"/>
            </a:avLst>
          </a:prstGeom>
          <a:solidFill>
            <a:srgbClr val="174D44"/>
          </a:solidFill>
          <a:ln cap="flat" cmpd="sng" w="12700">
            <a:solidFill>
              <a:srgbClr val="174D4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1865376" y="3383280"/>
            <a:ext cx="274320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8FE6D"/>
              </a:buClr>
              <a:buSzPts val="2100"/>
              <a:buFont typeface="Inter"/>
              <a:buNone/>
            </a:pPr>
            <a:r>
              <a:rPr b="1" i="0" lang="en-US" sz="2100" u="none" cap="none" strike="noStrike">
                <a:solidFill>
                  <a:srgbClr val="B8FE6D"/>
                </a:solidFill>
                <a:latin typeface="Inter"/>
                <a:ea typeface="Inter"/>
                <a:cs typeface="Inter"/>
                <a:sym typeface="Inter"/>
              </a:rPr>
              <a:t>src.agent</a:t>
            </a:r>
            <a:endParaRPr b="0" i="0" sz="2100" u="none" cap="none" strike="noStrike">
              <a:solidFill>
                <a:schemeClr val="dk1"/>
              </a:solidFill>
              <a:latin typeface="Inter"/>
              <a:ea typeface="Inter"/>
              <a:cs typeface="Inter"/>
              <a:sym typeface="Inter"/>
            </a:endParaRPr>
          </a:p>
        </p:txBody>
      </p:sp>
      <p:cxnSp>
        <p:nvCxnSpPr>
          <p:cNvPr id="205" name="Google Shape;205;p7"/>
          <p:cNvCxnSpPr/>
          <p:nvPr/>
        </p:nvCxnSpPr>
        <p:spPr>
          <a:xfrm>
            <a:off x="3227832" y="3904488"/>
            <a:ext cx="0" cy="429768"/>
          </a:xfrm>
          <a:prstGeom prst="straightConnector1">
            <a:avLst/>
          </a:prstGeom>
          <a:noFill/>
          <a:ln cap="flat" cmpd="sng" w="25400">
            <a:solidFill>
              <a:srgbClr val="20D9B2"/>
            </a:solidFill>
            <a:prstDash val="solid"/>
            <a:round/>
            <a:headEnd len="sm" w="sm" type="none"/>
            <a:tailEnd len="med" w="med" type="triangle"/>
          </a:ln>
        </p:spPr>
      </p:cxnSp>
      <p:sp>
        <p:nvSpPr>
          <p:cNvPr id="206" name="Google Shape;206;p7"/>
          <p:cNvSpPr/>
          <p:nvPr/>
        </p:nvSpPr>
        <p:spPr>
          <a:xfrm>
            <a:off x="1490472" y="4389120"/>
            <a:ext cx="3474720" cy="676656"/>
          </a:xfrm>
          <a:prstGeom prst="roundRect">
            <a:avLst>
              <a:gd fmla="val 24324" name="adj"/>
            </a:avLst>
          </a:prstGeom>
          <a:solidFill>
            <a:srgbClr val="172B42"/>
          </a:solidFill>
          <a:ln cap="flat" cmpd="sng" w="12700">
            <a:solidFill>
              <a:srgbClr val="172B4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1645920" y="4553712"/>
            <a:ext cx="3172968"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3F8FB"/>
              </a:buClr>
              <a:buSzPts val="1670"/>
              <a:buFont typeface="Inter"/>
              <a:buNone/>
            </a:pPr>
            <a:r>
              <a:rPr b="1" i="0" lang="en-US" sz="1670" u="none" cap="none" strike="noStrike">
                <a:solidFill>
                  <a:srgbClr val="F3F8FB"/>
                </a:solidFill>
                <a:latin typeface="Inter"/>
                <a:ea typeface="Inter"/>
                <a:cs typeface="Inter"/>
                <a:sym typeface="Inter"/>
              </a:rPr>
              <a:t>LangGraph → tools → estado</a:t>
            </a:r>
            <a:endParaRPr b="0" i="0" sz="1670" u="none" cap="none" strike="noStrike">
              <a:solidFill>
                <a:schemeClr val="dk1"/>
              </a:solidFill>
              <a:latin typeface="Inter"/>
              <a:ea typeface="Inter"/>
              <a:cs typeface="Inter"/>
              <a:sym typeface="Inter"/>
            </a:endParaRPr>
          </a:p>
        </p:txBody>
      </p:sp>
      <p:sp>
        <p:nvSpPr>
          <p:cNvPr id="208" name="Google Shape;208;p7"/>
          <p:cNvSpPr/>
          <p:nvPr/>
        </p:nvSpPr>
        <p:spPr>
          <a:xfrm>
            <a:off x="5952744" y="1965960"/>
            <a:ext cx="5449824" cy="3328416"/>
          </a:xfrm>
          <a:prstGeom prst="roundRect">
            <a:avLst>
              <a:gd fmla="val 4945"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6254496" y="2240280"/>
            <a:ext cx="2450592" cy="347472"/>
          </a:xfrm>
          <a:prstGeom prst="roundRect">
            <a:avLst>
              <a:gd fmla="val 31579" name="adj"/>
            </a:avLst>
          </a:prstGeom>
          <a:solidFill>
            <a:srgbClr val="283E35"/>
          </a:solidFill>
          <a:ln cap="flat" cmpd="sng" w="12700">
            <a:solidFill>
              <a:srgbClr val="283E3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6400800" y="2253996"/>
            <a:ext cx="2157984"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1030"/>
              <a:buFont typeface="Inter"/>
              <a:buNone/>
            </a:pPr>
            <a:r>
              <a:rPr b="1" i="0" lang="en-US" sz="1030" u="none" cap="none" strike="noStrike">
                <a:solidFill>
                  <a:srgbClr val="B8FE6D"/>
                </a:solidFill>
                <a:latin typeface="Inter"/>
                <a:ea typeface="Inter"/>
                <a:cs typeface="Inter"/>
                <a:sym typeface="Inter"/>
              </a:rPr>
              <a:t>REPRODUCIBILIDAD</a:t>
            </a:r>
            <a:endParaRPr b="0" i="0" sz="1030" u="none" cap="none" strike="noStrike">
              <a:solidFill>
                <a:schemeClr val="dk1"/>
              </a:solidFill>
              <a:latin typeface="Inter"/>
              <a:ea typeface="Inter"/>
              <a:cs typeface="Inter"/>
              <a:sym typeface="Inter"/>
            </a:endParaRPr>
          </a:p>
        </p:txBody>
      </p:sp>
      <p:sp>
        <p:nvSpPr>
          <p:cNvPr id="211" name="Google Shape;211;p7"/>
          <p:cNvSpPr/>
          <p:nvPr/>
        </p:nvSpPr>
        <p:spPr>
          <a:xfrm>
            <a:off x="6272784" y="2889504"/>
            <a:ext cx="4617720" cy="338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00"/>
              <a:buFont typeface="Consolas"/>
              <a:buNone/>
            </a:pPr>
            <a:r>
              <a:rPr b="0" i="0" lang="en-US" sz="1700" u="none" cap="none" strike="noStrike">
                <a:solidFill>
                  <a:srgbClr val="F3F8FB"/>
                </a:solidFill>
                <a:latin typeface="Consolas"/>
                <a:ea typeface="Consolas"/>
                <a:cs typeface="Consolas"/>
                <a:sym typeface="Consolas"/>
              </a:rPr>
              <a:t>python main.py rag index --yes</a:t>
            </a:r>
            <a:endParaRPr b="0" i="0" sz="1700" u="none" cap="none" strike="noStrike">
              <a:solidFill>
                <a:schemeClr val="dk1"/>
              </a:solidFill>
              <a:latin typeface="Inter"/>
              <a:ea typeface="Inter"/>
              <a:cs typeface="Inter"/>
              <a:sym typeface="Inter"/>
            </a:endParaRPr>
          </a:p>
        </p:txBody>
      </p:sp>
      <p:sp>
        <p:nvSpPr>
          <p:cNvPr id="212" name="Google Shape;212;p7"/>
          <p:cNvSpPr/>
          <p:nvPr/>
        </p:nvSpPr>
        <p:spPr>
          <a:xfrm>
            <a:off x="6272784" y="3465576"/>
            <a:ext cx="4663440" cy="338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70"/>
              <a:buFont typeface="Consolas"/>
              <a:buNone/>
            </a:pPr>
            <a:r>
              <a:rPr b="0" i="0" lang="en-US" sz="1670" u="none" cap="none" strike="noStrike">
                <a:solidFill>
                  <a:srgbClr val="F3F8FB"/>
                </a:solidFill>
                <a:latin typeface="Consolas"/>
                <a:ea typeface="Consolas"/>
                <a:cs typeface="Consolas"/>
                <a:sym typeface="Consolas"/>
              </a:rPr>
              <a:t>python main.py agente interactivo</a:t>
            </a:r>
            <a:endParaRPr b="0" i="0" sz="1670" u="none" cap="none" strike="noStrike">
              <a:solidFill>
                <a:schemeClr val="dk1"/>
              </a:solidFill>
              <a:latin typeface="Inter"/>
              <a:ea typeface="Inter"/>
              <a:cs typeface="Inter"/>
              <a:sym typeface="Inter"/>
            </a:endParaRPr>
          </a:p>
        </p:txBody>
      </p:sp>
      <p:sp>
        <p:nvSpPr>
          <p:cNvPr id="213" name="Google Shape;213;p7"/>
          <p:cNvSpPr/>
          <p:nvPr/>
        </p:nvSpPr>
        <p:spPr>
          <a:xfrm>
            <a:off x="6272784" y="4023360"/>
            <a:ext cx="4663440" cy="338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700"/>
              <a:buFont typeface="Consolas"/>
              <a:buNone/>
            </a:pPr>
            <a:r>
              <a:rPr b="0" i="0" lang="en-US" sz="1700" u="none" cap="none" strike="noStrike">
                <a:solidFill>
                  <a:srgbClr val="F3F8FB"/>
                </a:solidFill>
                <a:latin typeface="Consolas"/>
                <a:ea typeface="Consolas"/>
                <a:cs typeface="Consolas"/>
                <a:sym typeface="Consolas"/>
              </a:rPr>
              <a:t>python -m streamlit run app.py</a:t>
            </a:r>
            <a:endParaRPr b="0" i="0" sz="1700" u="none" cap="none" strike="noStrike">
              <a:solidFill>
                <a:schemeClr val="dk1"/>
              </a:solidFill>
              <a:latin typeface="Inter"/>
              <a:ea typeface="Inter"/>
              <a:cs typeface="Inter"/>
              <a:sym typeface="Inter"/>
            </a:endParaRPr>
          </a:p>
        </p:txBody>
      </p:sp>
      <p:cxnSp>
        <p:nvCxnSpPr>
          <p:cNvPr id="214" name="Google Shape;214;p7"/>
          <p:cNvCxnSpPr/>
          <p:nvPr/>
        </p:nvCxnSpPr>
        <p:spPr>
          <a:xfrm>
            <a:off x="6263640" y="4562856"/>
            <a:ext cx="4764024" cy="0"/>
          </a:xfrm>
          <a:prstGeom prst="straightConnector1">
            <a:avLst/>
          </a:prstGeom>
          <a:noFill/>
          <a:ln cap="flat" cmpd="sng" w="15225">
            <a:solidFill>
              <a:srgbClr val="2A4156"/>
            </a:solidFill>
            <a:prstDash val="solid"/>
            <a:round/>
            <a:headEnd len="sm" w="sm" type="none"/>
            <a:tailEnd len="sm" w="sm" type="none"/>
          </a:ln>
        </p:spPr>
      </p:cxnSp>
      <p:sp>
        <p:nvSpPr>
          <p:cNvPr id="215" name="Google Shape;215;p7"/>
          <p:cNvSpPr/>
          <p:nvPr/>
        </p:nvSpPr>
        <p:spPr>
          <a:xfrm>
            <a:off x="6281928" y="4727448"/>
            <a:ext cx="461772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10"/>
              <a:buFont typeface="Inter"/>
              <a:buNone/>
            </a:pPr>
            <a:r>
              <a:rPr b="0" i="0" lang="en-US" sz="1310" u="none" cap="none" strike="noStrike">
                <a:solidFill>
                  <a:srgbClr val="B8CAD5"/>
                </a:solidFill>
                <a:latin typeface="Inter"/>
                <a:ea typeface="Inter"/>
                <a:cs typeface="Inter"/>
                <a:sym typeface="Inter"/>
              </a:rPr>
              <a:t>README   ·   tests/   ·   specs/   ·   entregables/</a:t>
            </a:r>
            <a:endParaRPr b="0" i="0" sz="1310" u="none" cap="none" strike="noStrike">
              <a:solidFill>
                <a:schemeClr val="dk1"/>
              </a:solidFill>
              <a:latin typeface="Inter"/>
              <a:ea typeface="Inter"/>
              <a:cs typeface="Inter"/>
              <a:sym typeface="Inter"/>
            </a:endParaRPr>
          </a:p>
        </p:txBody>
      </p:sp>
      <p:sp>
        <p:nvSpPr>
          <p:cNvPr id="216" name="Google Shape;216;p7"/>
          <p:cNvSpPr/>
          <p:nvPr/>
        </p:nvSpPr>
        <p:spPr>
          <a:xfrm>
            <a:off x="950976" y="5715000"/>
            <a:ext cx="10277856" cy="3566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0D9B2"/>
              </a:buClr>
              <a:buSzPts val="1829"/>
              <a:buFont typeface="Inter"/>
              <a:buNone/>
            </a:pPr>
            <a:r>
              <a:rPr b="1" i="0" lang="en-US" sz="1830" u="none" cap="none" strike="noStrike">
                <a:solidFill>
                  <a:srgbClr val="20D9B2"/>
                </a:solidFill>
                <a:latin typeface="Inter"/>
                <a:ea typeface="Inter"/>
                <a:cs typeface="Inter"/>
                <a:sym typeface="Inter"/>
              </a:rPr>
              <a:t>Estado + log + traza visibles en Streamlit</a:t>
            </a:r>
            <a:endParaRPr b="0" i="0" sz="183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221" name="Shape 221"/>
        <p:cNvGrpSpPr/>
        <p:nvPr/>
      </p:nvGrpSpPr>
      <p:grpSpPr>
        <a:xfrm>
          <a:off x="0" y="0"/>
          <a:ext cx="0" cy="0"/>
          <a:chOff x="0" y="0"/>
          <a:chExt cx="0" cy="0"/>
        </a:xfrm>
      </p:grpSpPr>
      <p:cxnSp>
        <p:nvCxnSpPr>
          <p:cNvPr id="222" name="Google Shape;222;p8"/>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223" name="Google Shape;223;p8"/>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224" name="Google Shape;224;p8"/>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ARQUITECTURA</a:t>
            </a:r>
            <a:endParaRPr b="0" i="0" sz="840" u="none" cap="none" strike="noStrike">
              <a:solidFill>
                <a:schemeClr val="dk1"/>
              </a:solidFill>
              <a:latin typeface="Inter"/>
              <a:ea typeface="Inter"/>
              <a:cs typeface="Inter"/>
              <a:sym typeface="Inter"/>
            </a:endParaRPr>
          </a:p>
        </p:txBody>
      </p:sp>
      <p:sp>
        <p:nvSpPr>
          <p:cNvPr id="225" name="Google Shape;225;p8"/>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DECISIONES Y LÍMITES</a:t>
            </a:r>
            <a:endParaRPr b="0" i="0" sz="1050" u="none" cap="none" strike="noStrike">
              <a:solidFill>
                <a:schemeClr val="dk1"/>
              </a:solidFill>
              <a:latin typeface="Inter"/>
              <a:ea typeface="Inter"/>
              <a:cs typeface="Inter"/>
              <a:sym typeface="Inter"/>
            </a:endParaRPr>
          </a:p>
        </p:txBody>
      </p:sp>
      <p:sp>
        <p:nvSpPr>
          <p:cNvPr id="226" name="Google Shape;226;p8"/>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Qué problemas condicionaron el diseño</a:t>
            </a:r>
            <a:endParaRPr b="0" i="0" sz="3150" u="none" cap="none" strike="noStrike">
              <a:solidFill>
                <a:schemeClr val="dk1"/>
              </a:solidFill>
              <a:latin typeface="Inter"/>
              <a:ea typeface="Inter"/>
              <a:cs typeface="Inter"/>
              <a:sym typeface="Inter"/>
            </a:endParaRPr>
          </a:p>
        </p:txBody>
      </p:sp>
      <p:sp>
        <p:nvSpPr>
          <p:cNvPr id="227" name="Google Shape;227;p8"/>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Regresiones identificadas y alcance de la versión actual</a:t>
            </a:r>
            <a:endParaRPr b="0" i="0" sz="1350" u="none" cap="none" strike="noStrike">
              <a:solidFill>
                <a:schemeClr val="dk1"/>
              </a:solidFill>
              <a:latin typeface="Inter"/>
              <a:ea typeface="Inter"/>
              <a:cs typeface="Inter"/>
              <a:sym typeface="Inter"/>
            </a:endParaRPr>
          </a:p>
        </p:txBody>
      </p:sp>
      <p:sp>
        <p:nvSpPr>
          <p:cNvPr id="228" name="Google Shape;228;p8"/>
          <p:cNvSpPr/>
          <p:nvPr/>
        </p:nvSpPr>
        <p:spPr>
          <a:xfrm>
            <a:off x="10771632" y="411480"/>
            <a:ext cx="731520" cy="237744"/>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1100"/>
              <a:buFont typeface="Inter"/>
              <a:buNone/>
            </a:pPr>
            <a:r>
              <a:rPr b="0" i="0" lang="en-US" sz="1100" u="none" cap="none" strike="noStrike">
                <a:solidFill>
                  <a:srgbClr val="899DB0"/>
                </a:solidFill>
                <a:latin typeface="Inter"/>
                <a:ea typeface="Inter"/>
                <a:cs typeface="Inter"/>
                <a:sym typeface="Inter"/>
              </a:rPr>
              <a:t>08 / 08</a:t>
            </a:r>
            <a:endParaRPr b="0" i="0" sz="1100" u="none" cap="none" strike="noStrike">
              <a:solidFill>
                <a:schemeClr val="dk1"/>
              </a:solidFill>
              <a:latin typeface="Inter"/>
              <a:ea typeface="Inter"/>
              <a:cs typeface="Inter"/>
              <a:sym typeface="Inter"/>
            </a:endParaRPr>
          </a:p>
        </p:txBody>
      </p:sp>
      <p:sp>
        <p:nvSpPr>
          <p:cNvPr id="229" name="Google Shape;229;p8"/>
          <p:cNvSpPr/>
          <p:nvPr/>
        </p:nvSpPr>
        <p:spPr>
          <a:xfrm>
            <a:off x="704088" y="1901952"/>
            <a:ext cx="6931152" cy="896112"/>
          </a:xfrm>
          <a:prstGeom prst="roundRect">
            <a:avLst>
              <a:gd fmla="val 18367"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914400" y="2157984"/>
            <a:ext cx="475488"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2000"/>
              <a:buFont typeface="Inter"/>
              <a:buNone/>
            </a:pPr>
            <a:r>
              <a:rPr b="1" i="0" lang="en-US" sz="2000" u="none" cap="none" strike="noStrike">
                <a:solidFill>
                  <a:srgbClr val="20D9B2"/>
                </a:solidFill>
                <a:latin typeface="Inter"/>
                <a:ea typeface="Inter"/>
                <a:cs typeface="Inter"/>
                <a:sym typeface="Inter"/>
              </a:rPr>
              <a:t>01</a:t>
            </a:r>
            <a:endParaRPr b="0" i="0" sz="2000" u="none" cap="none" strike="noStrike">
              <a:solidFill>
                <a:schemeClr val="dk1"/>
              </a:solidFill>
              <a:latin typeface="Inter"/>
              <a:ea typeface="Inter"/>
              <a:cs typeface="Inter"/>
              <a:sym typeface="Inter"/>
            </a:endParaRPr>
          </a:p>
        </p:txBody>
      </p:sp>
      <p:sp>
        <p:nvSpPr>
          <p:cNvPr id="231" name="Google Shape;231;p8"/>
          <p:cNvSpPr/>
          <p:nvPr/>
        </p:nvSpPr>
        <p:spPr>
          <a:xfrm>
            <a:off x="1508760" y="2157981"/>
            <a:ext cx="27798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879"/>
              <a:buFont typeface="Inter"/>
              <a:buNone/>
            </a:pPr>
            <a:r>
              <a:rPr b="1" i="0" lang="en-US" sz="1880" u="none" cap="none" strike="noStrike">
                <a:solidFill>
                  <a:srgbClr val="F3F8FB"/>
                </a:solidFill>
                <a:latin typeface="Inter"/>
                <a:ea typeface="Inter"/>
                <a:cs typeface="Inter"/>
                <a:sym typeface="Inter"/>
              </a:rPr>
              <a:t>Modalidad incorrecta</a:t>
            </a:r>
            <a:endParaRPr b="0" i="0" sz="1880" u="none" cap="none" strike="noStrike">
              <a:solidFill>
                <a:schemeClr val="dk1"/>
              </a:solidFill>
              <a:latin typeface="Inter"/>
              <a:ea typeface="Inter"/>
              <a:cs typeface="Inter"/>
              <a:sym typeface="Inter"/>
            </a:endParaRPr>
          </a:p>
        </p:txBody>
      </p:sp>
      <p:sp>
        <p:nvSpPr>
          <p:cNvPr id="232" name="Google Shape;232;p8"/>
          <p:cNvSpPr/>
          <p:nvPr/>
        </p:nvSpPr>
        <p:spPr>
          <a:xfrm>
            <a:off x="4306824" y="2180801"/>
            <a:ext cx="2971800" cy="338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20"/>
              <a:buFont typeface="Inter"/>
              <a:buNone/>
            </a:pPr>
            <a:r>
              <a:rPr b="0" i="0" lang="en-US" sz="1320" u="none" cap="none" strike="noStrike">
                <a:solidFill>
                  <a:srgbClr val="B8CAD5"/>
                </a:solidFill>
                <a:latin typeface="Inter"/>
                <a:ea typeface="Inter"/>
                <a:cs typeface="Inter"/>
                <a:sym typeface="Inter"/>
              </a:rPr>
              <a:t>Filtros conservadores por metadatos</a:t>
            </a:r>
            <a:endParaRPr b="0" i="0" sz="1320" u="none" cap="none" strike="noStrike">
              <a:solidFill>
                <a:schemeClr val="dk1"/>
              </a:solidFill>
              <a:latin typeface="Inter"/>
              <a:ea typeface="Inter"/>
              <a:cs typeface="Inter"/>
              <a:sym typeface="Inter"/>
            </a:endParaRPr>
          </a:p>
        </p:txBody>
      </p:sp>
      <p:sp>
        <p:nvSpPr>
          <p:cNvPr id="233" name="Google Shape;233;p8"/>
          <p:cNvSpPr/>
          <p:nvPr/>
        </p:nvSpPr>
        <p:spPr>
          <a:xfrm>
            <a:off x="704088" y="2962656"/>
            <a:ext cx="6931152" cy="896112"/>
          </a:xfrm>
          <a:prstGeom prst="roundRect">
            <a:avLst>
              <a:gd fmla="val 18367"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914400" y="3218688"/>
            <a:ext cx="475488"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2000"/>
              <a:buFont typeface="Inter"/>
              <a:buNone/>
            </a:pPr>
            <a:r>
              <a:rPr b="1" i="0" lang="en-US" sz="2000" u="none" cap="none" strike="noStrike">
                <a:solidFill>
                  <a:srgbClr val="20D9B2"/>
                </a:solidFill>
                <a:latin typeface="Inter"/>
                <a:ea typeface="Inter"/>
                <a:cs typeface="Inter"/>
                <a:sym typeface="Inter"/>
              </a:rPr>
              <a:t>02</a:t>
            </a:r>
            <a:endParaRPr b="0" i="0" sz="2000" u="none" cap="none" strike="noStrike">
              <a:solidFill>
                <a:schemeClr val="dk1"/>
              </a:solidFill>
              <a:latin typeface="Inter"/>
              <a:ea typeface="Inter"/>
              <a:cs typeface="Inter"/>
              <a:sym typeface="Inter"/>
            </a:endParaRPr>
          </a:p>
        </p:txBody>
      </p:sp>
      <p:sp>
        <p:nvSpPr>
          <p:cNvPr id="235" name="Google Shape;235;p8"/>
          <p:cNvSpPr/>
          <p:nvPr/>
        </p:nvSpPr>
        <p:spPr>
          <a:xfrm>
            <a:off x="1508747" y="3246173"/>
            <a:ext cx="27798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879"/>
              <a:buFont typeface="Inter"/>
              <a:buNone/>
            </a:pPr>
            <a:r>
              <a:rPr b="1" i="0" lang="en-US" sz="1880" u="none" cap="none" strike="noStrike">
                <a:solidFill>
                  <a:srgbClr val="F3F8FB"/>
                </a:solidFill>
                <a:latin typeface="Inter"/>
                <a:ea typeface="Inter"/>
                <a:cs typeface="Inter"/>
                <a:sym typeface="Inter"/>
              </a:rPr>
              <a:t>Top-k ≠ catálogo completo</a:t>
            </a:r>
            <a:endParaRPr b="0" i="0" sz="1880" u="none" cap="none" strike="noStrike">
              <a:solidFill>
                <a:schemeClr val="dk1"/>
              </a:solidFill>
              <a:latin typeface="Inter"/>
              <a:ea typeface="Inter"/>
              <a:cs typeface="Inter"/>
              <a:sym typeface="Inter"/>
            </a:endParaRPr>
          </a:p>
        </p:txBody>
      </p:sp>
      <p:sp>
        <p:nvSpPr>
          <p:cNvPr id="236" name="Google Shape;236;p8"/>
          <p:cNvSpPr/>
          <p:nvPr/>
        </p:nvSpPr>
        <p:spPr>
          <a:xfrm>
            <a:off x="4306824" y="3259843"/>
            <a:ext cx="2971800" cy="338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20"/>
              <a:buFont typeface="Inter"/>
              <a:buNone/>
            </a:pPr>
            <a:r>
              <a:rPr b="0" i="0" lang="en-US" sz="1320" u="none" cap="none" strike="noStrike">
                <a:solidFill>
                  <a:srgbClr val="B8CAD5"/>
                </a:solidFill>
                <a:latin typeface="Inter"/>
                <a:ea typeface="Inter"/>
                <a:cs typeface="Inter"/>
                <a:sym typeface="Inter"/>
              </a:rPr>
              <a:t>Consultas estructuradas al CSV</a:t>
            </a:r>
            <a:endParaRPr b="0" i="0" sz="1320" u="none" cap="none" strike="noStrike">
              <a:solidFill>
                <a:schemeClr val="dk1"/>
              </a:solidFill>
              <a:latin typeface="Inter"/>
              <a:ea typeface="Inter"/>
              <a:cs typeface="Inter"/>
              <a:sym typeface="Inter"/>
            </a:endParaRPr>
          </a:p>
        </p:txBody>
      </p:sp>
      <p:sp>
        <p:nvSpPr>
          <p:cNvPr id="237" name="Google Shape;237;p8"/>
          <p:cNvSpPr/>
          <p:nvPr/>
        </p:nvSpPr>
        <p:spPr>
          <a:xfrm>
            <a:off x="704088" y="4023360"/>
            <a:ext cx="6931152" cy="896112"/>
          </a:xfrm>
          <a:prstGeom prst="roundRect">
            <a:avLst>
              <a:gd fmla="val 18367"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914400" y="4279392"/>
            <a:ext cx="475488"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2000"/>
              <a:buFont typeface="Inter"/>
              <a:buNone/>
            </a:pPr>
            <a:r>
              <a:rPr b="1" i="0" lang="en-US" sz="2000" u="none" cap="none" strike="noStrike">
                <a:solidFill>
                  <a:srgbClr val="20D9B2"/>
                </a:solidFill>
                <a:latin typeface="Inter"/>
                <a:ea typeface="Inter"/>
                <a:cs typeface="Inter"/>
                <a:sym typeface="Inter"/>
              </a:rPr>
              <a:t>03</a:t>
            </a:r>
            <a:endParaRPr b="0" i="0" sz="2000" u="none" cap="none" strike="noStrike">
              <a:solidFill>
                <a:schemeClr val="dk1"/>
              </a:solidFill>
              <a:latin typeface="Inter"/>
              <a:ea typeface="Inter"/>
              <a:cs typeface="Inter"/>
              <a:sym typeface="Inter"/>
            </a:endParaRPr>
          </a:p>
        </p:txBody>
      </p:sp>
      <p:sp>
        <p:nvSpPr>
          <p:cNvPr id="239" name="Google Shape;239;p8"/>
          <p:cNvSpPr/>
          <p:nvPr/>
        </p:nvSpPr>
        <p:spPr>
          <a:xfrm>
            <a:off x="1508772" y="4293102"/>
            <a:ext cx="2779800" cy="32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879"/>
              <a:buFont typeface="Inter"/>
              <a:buNone/>
            </a:pPr>
            <a:r>
              <a:rPr b="1" i="0" lang="en-US" sz="1880" u="none" cap="none" strike="noStrike">
                <a:solidFill>
                  <a:srgbClr val="F3F8FB"/>
                </a:solidFill>
                <a:latin typeface="Inter"/>
                <a:ea typeface="Inter"/>
                <a:cs typeface="Inter"/>
                <a:sym typeface="Inter"/>
              </a:rPr>
              <a:t>Horarios y citas mezclados</a:t>
            </a:r>
            <a:endParaRPr b="0" i="0" sz="1880" u="none" cap="none" strike="noStrike">
              <a:solidFill>
                <a:schemeClr val="dk1"/>
              </a:solidFill>
              <a:latin typeface="Inter"/>
              <a:ea typeface="Inter"/>
              <a:cs typeface="Inter"/>
              <a:sym typeface="Inter"/>
            </a:endParaRPr>
          </a:p>
        </p:txBody>
      </p:sp>
      <p:sp>
        <p:nvSpPr>
          <p:cNvPr id="240" name="Google Shape;240;p8"/>
          <p:cNvSpPr/>
          <p:nvPr/>
        </p:nvSpPr>
        <p:spPr>
          <a:xfrm>
            <a:off x="4306824" y="4302234"/>
            <a:ext cx="2971800" cy="338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20"/>
              <a:buFont typeface="Inter"/>
              <a:buNone/>
            </a:pPr>
            <a:r>
              <a:rPr b="0" i="0" lang="en-US" sz="1320" u="none" cap="none" strike="noStrike">
                <a:solidFill>
                  <a:srgbClr val="B8CAD5"/>
                </a:solidFill>
                <a:latin typeface="Inter"/>
                <a:ea typeface="Inter"/>
                <a:cs typeface="Inter"/>
                <a:sym typeface="Inter"/>
              </a:rPr>
              <a:t>Validación por registro y por fuente</a:t>
            </a:r>
            <a:endParaRPr b="0" i="0" sz="1320" u="none" cap="none" strike="noStrike">
              <a:solidFill>
                <a:schemeClr val="dk1"/>
              </a:solidFill>
              <a:latin typeface="Inter"/>
              <a:ea typeface="Inter"/>
              <a:cs typeface="Inter"/>
              <a:sym typeface="Inter"/>
            </a:endParaRPr>
          </a:p>
        </p:txBody>
      </p:sp>
      <p:sp>
        <p:nvSpPr>
          <p:cNvPr id="241" name="Google Shape;241;p8"/>
          <p:cNvSpPr/>
          <p:nvPr/>
        </p:nvSpPr>
        <p:spPr>
          <a:xfrm>
            <a:off x="7900416" y="1901952"/>
            <a:ext cx="3520500" cy="3017400"/>
          </a:xfrm>
          <a:prstGeom prst="roundRect">
            <a:avLst>
              <a:gd fmla="val 5455" name="adj"/>
            </a:avLst>
          </a:prstGeom>
          <a:solidFill>
            <a:srgbClr val="1D303B"/>
          </a:solidFill>
          <a:ln cap="flat" cmpd="sng" w="12700">
            <a:solidFill>
              <a:srgbClr val="1D303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8156448" y="2221992"/>
            <a:ext cx="301752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CB79"/>
              </a:buClr>
              <a:buSzPts val="1940"/>
              <a:buFont typeface="Inter"/>
              <a:buNone/>
            </a:pPr>
            <a:r>
              <a:rPr b="1" i="0" lang="en-US" sz="1940" u="none" cap="none" strike="noStrike">
                <a:solidFill>
                  <a:srgbClr val="FFCB79"/>
                </a:solidFill>
                <a:latin typeface="Inter"/>
                <a:ea typeface="Inter"/>
                <a:cs typeface="Inter"/>
                <a:sym typeface="Inter"/>
              </a:rPr>
              <a:t>LÍMITES ACTUALES</a:t>
            </a:r>
            <a:endParaRPr b="0" i="0" sz="1940" u="none" cap="none" strike="noStrike">
              <a:solidFill>
                <a:schemeClr val="dk1"/>
              </a:solidFill>
              <a:latin typeface="Inter"/>
              <a:ea typeface="Inter"/>
              <a:cs typeface="Inter"/>
              <a:sym typeface="Inter"/>
            </a:endParaRPr>
          </a:p>
        </p:txBody>
      </p:sp>
      <p:sp>
        <p:nvSpPr>
          <p:cNvPr id="243" name="Google Shape;243;p8"/>
          <p:cNvSpPr/>
          <p:nvPr/>
        </p:nvSpPr>
        <p:spPr>
          <a:xfrm>
            <a:off x="8165592" y="2798064"/>
            <a:ext cx="68580" cy="68580"/>
          </a:xfrm>
          <a:prstGeom prst="ellipse">
            <a:avLst/>
          </a:prstGeom>
          <a:solidFill>
            <a:srgbClr val="FFCB79"/>
          </a:solidFill>
          <a:ln cap="flat" cmpd="sng" w="12700">
            <a:solidFill>
              <a:srgbClr val="FFCB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8357585" y="2615200"/>
            <a:ext cx="2816400" cy="365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450"/>
              <a:buFont typeface="Inter"/>
              <a:buNone/>
            </a:pPr>
            <a:r>
              <a:rPr b="0" i="0" lang="en-US" sz="1450" u="none" cap="none" strike="noStrike">
                <a:solidFill>
                  <a:srgbClr val="B8CAD5"/>
                </a:solidFill>
                <a:latin typeface="Inter"/>
                <a:ea typeface="Inter"/>
                <a:cs typeface="Inter"/>
                <a:sym typeface="Inter"/>
              </a:rPr>
              <a:t>Solo Madrid ciudad</a:t>
            </a:r>
            <a:endParaRPr b="0" i="0" sz="1450" u="none" cap="none" strike="noStrike">
              <a:solidFill>
                <a:schemeClr val="dk1"/>
              </a:solidFill>
              <a:latin typeface="Inter"/>
              <a:ea typeface="Inter"/>
              <a:cs typeface="Inter"/>
              <a:sym typeface="Inter"/>
            </a:endParaRPr>
          </a:p>
        </p:txBody>
      </p:sp>
      <p:sp>
        <p:nvSpPr>
          <p:cNvPr id="245" name="Google Shape;245;p8"/>
          <p:cNvSpPr/>
          <p:nvPr/>
        </p:nvSpPr>
        <p:spPr>
          <a:xfrm>
            <a:off x="8165592" y="3264408"/>
            <a:ext cx="68580" cy="68580"/>
          </a:xfrm>
          <a:prstGeom prst="ellipse">
            <a:avLst/>
          </a:prstGeom>
          <a:solidFill>
            <a:srgbClr val="FFCB79"/>
          </a:solidFill>
          <a:ln cap="flat" cmpd="sng" w="12700">
            <a:solidFill>
              <a:srgbClr val="FFCB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8357585" y="3081544"/>
            <a:ext cx="2816400" cy="365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450"/>
              <a:buFont typeface="Inter"/>
              <a:buNone/>
            </a:pPr>
            <a:r>
              <a:rPr b="0" i="0" lang="en-US" sz="1450" u="none" cap="none" strike="noStrike">
                <a:solidFill>
                  <a:srgbClr val="B8CAD5"/>
                </a:solidFill>
                <a:latin typeface="Inter"/>
                <a:ea typeface="Inter"/>
                <a:cs typeface="Inter"/>
                <a:sym typeface="Inter"/>
              </a:rPr>
              <a:t>Haversine, no rutas</a:t>
            </a:r>
            <a:endParaRPr b="0" i="0" sz="1450" u="none" cap="none" strike="noStrike">
              <a:solidFill>
                <a:schemeClr val="dk1"/>
              </a:solidFill>
              <a:latin typeface="Inter"/>
              <a:ea typeface="Inter"/>
              <a:cs typeface="Inter"/>
              <a:sym typeface="Inter"/>
            </a:endParaRPr>
          </a:p>
        </p:txBody>
      </p:sp>
      <p:sp>
        <p:nvSpPr>
          <p:cNvPr id="247" name="Google Shape;247;p8"/>
          <p:cNvSpPr/>
          <p:nvPr/>
        </p:nvSpPr>
        <p:spPr>
          <a:xfrm>
            <a:off x="8165592" y="3739896"/>
            <a:ext cx="68580" cy="68580"/>
          </a:xfrm>
          <a:prstGeom prst="ellipse">
            <a:avLst/>
          </a:prstGeom>
          <a:solidFill>
            <a:srgbClr val="FFCB79"/>
          </a:solidFill>
          <a:ln cap="flat" cmpd="sng" w="12700">
            <a:solidFill>
              <a:srgbClr val="FFCB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8357585" y="3557032"/>
            <a:ext cx="2816400" cy="365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450"/>
              <a:buFont typeface="Inter"/>
              <a:buNone/>
            </a:pPr>
            <a:r>
              <a:rPr b="0" i="0" lang="en-US" sz="1450" u="none" cap="none" strike="noStrike">
                <a:solidFill>
                  <a:srgbClr val="B8CAD5"/>
                </a:solidFill>
                <a:latin typeface="Inter"/>
                <a:ea typeface="Inter"/>
                <a:cs typeface="Inter"/>
                <a:sym typeface="Inter"/>
              </a:rPr>
              <a:t>MemorySaver: RAM</a:t>
            </a:r>
            <a:endParaRPr b="0" i="0" sz="1450" u="none" cap="none" strike="noStrike">
              <a:solidFill>
                <a:schemeClr val="dk1"/>
              </a:solidFill>
              <a:latin typeface="Inter"/>
              <a:ea typeface="Inter"/>
              <a:cs typeface="Inter"/>
              <a:sym typeface="Inter"/>
            </a:endParaRPr>
          </a:p>
        </p:txBody>
      </p:sp>
      <p:sp>
        <p:nvSpPr>
          <p:cNvPr id="249" name="Google Shape;249;p8"/>
          <p:cNvSpPr/>
          <p:nvPr/>
        </p:nvSpPr>
        <p:spPr>
          <a:xfrm>
            <a:off x="8165592" y="4215384"/>
            <a:ext cx="68580" cy="68580"/>
          </a:xfrm>
          <a:prstGeom prst="ellipse">
            <a:avLst/>
          </a:prstGeom>
          <a:solidFill>
            <a:srgbClr val="FFCB79"/>
          </a:solidFill>
          <a:ln cap="flat" cmpd="sng" w="12700">
            <a:solidFill>
              <a:srgbClr val="FFCB7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8357585" y="4032520"/>
            <a:ext cx="2816400" cy="365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450"/>
              <a:buFont typeface="Inter"/>
              <a:buNone/>
            </a:pPr>
            <a:r>
              <a:rPr b="0" i="0" lang="en-US" sz="1450" u="none" cap="none" strike="noStrike">
                <a:solidFill>
                  <a:srgbClr val="B8CAD5"/>
                </a:solidFill>
                <a:latin typeface="Inter"/>
                <a:ea typeface="Inter"/>
                <a:cs typeface="Inter"/>
                <a:sym typeface="Inter"/>
              </a:rPr>
              <a:t>Gemini / API externos</a:t>
            </a:r>
            <a:endParaRPr b="0" i="0" sz="1450" u="none" cap="none" strike="noStrike">
              <a:solidFill>
                <a:schemeClr val="dk1"/>
              </a:solidFill>
              <a:latin typeface="Inter"/>
              <a:ea typeface="Inter"/>
              <a:cs typeface="Inter"/>
              <a:sym typeface="Inter"/>
            </a:endParaRPr>
          </a:p>
        </p:txBody>
      </p:sp>
      <p:sp>
        <p:nvSpPr>
          <p:cNvPr id="251" name="Google Shape;251;p8"/>
          <p:cNvSpPr/>
          <p:nvPr/>
        </p:nvSpPr>
        <p:spPr>
          <a:xfrm>
            <a:off x="1490472" y="5541264"/>
            <a:ext cx="9208008" cy="640080"/>
          </a:xfrm>
          <a:prstGeom prst="roundRect">
            <a:avLst>
              <a:gd fmla="val 25714" name="adj"/>
            </a:avLst>
          </a:prstGeom>
          <a:solidFill>
            <a:srgbClr val="1D3E37"/>
          </a:solidFill>
          <a:ln cap="flat" cmpd="sng" w="12700">
            <a:solidFill>
              <a:srgbClr val="1D3E3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652000" y="5696700"/>
            <a:ext cx="8907300" cy="3108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B8FE6D"/>
              </a:buClr>
              <a:buSzPts val="1650"/>
              <a:buFont typeface="Inter"/>
              <a:buNone/>
            </a:pPr>
            <a:r>
              <a:rPr b="1" lang="en-US" sz="1650">
                <a:solidFill>
                  <a:srgbClr val="B8FE6D"/>
                </a:solidFill>
                <a:latin typeface="Inter"/>
                <a:ea typeface="Inter"/>
                <a:cs typeface="Inter"/>
                <a:sym typeface="Inter"/>
              </a:rPr>
              <a:t>POSIBLE </a:t>
            </a:r>
            <a:r>
              <a:rPr b="1" i="0" lang="en-US" sz="1650" u="none" cap="none" strike="noStrike">
                <a:solidFill>
                  <a:srgbClr val="B8FE6D"/>
                </a:solidFill>
                <a:latin typeface="Inter"/>
                <a:ea typeface="Inter"/>
                <a:cs typeface="Inter"/>
                <a:sym typeface="Inter"/>
              </a:rPr>
              <a:t>SIGUIENTE ETAPA  ·  Persistencia real + actualización de fuentes + itinerarios</a:t>
            </a:r>
            <a:endParaRPr b="0" i="0" sz="165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257" name="Shape 257"/>
        <p:cNvGrpSpPr/>
        <p:nvPr/>
      </p:nvGrpSpPr>
      <p:grpSpPr>
        <a:xfrm>
          <a:off x="0" y="0"/>
          <a:ext cx="0" cy="0"/>
          <a:chOff x="0" y="0"/>
          <a:chExt cx="0" cy="0"/>
        </a:xfrm>
      </p:grpSpPr>
      <p:cxnSp>
        <p:nvCxnSpPr>
          <p:cNvPr id="258" name="Google Shape;258;p9"/>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259" name="Google Shape;259;p9"/>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260" name="Google Shape;260;p9"/>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DEMOSTRACIONES</a:t>
            </a:r>
            <a:endParaRPr b="0" i="0" sz="840" u="none" cap="none" strike="noStrike">
              <a:solidFill>
                <a:schemeClr val="dk1"/>
              </a:solidFill>
              <a:latin typeface="Inter"/>
              <a:ea typeface="Inter"/>
              <a:cs typeface="Inter"/>
              <a:sym typeface="Inter"/>
            </a:endParaRPr>
          </a:p>
        </p:txBody>
      </p:sp>
      <p:sp>
        <p:nvSpPr>
          <p:cNvPr id="261" name="Google Shape;261;p9"/>
          <p:cNvSpPr/>
          <p:nvPr/>
        </p:nvSpPr>
        <p:spPr>
          <a:xfrm>
            <a:off x="685800" y="320040"/>
            <a:ext cx="466344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60"/>
              <a:buFont typeface="Inter"/>
              <a:buNone/>
            </a:pPr>
            <a:r>
              <a:rPr b="1" i="0" lang="en-US" sz="1060" u="none" cap="none" strike="noStrike">
                <a:solidFill>
                  <a:srgbClr val="20D9B2"/>
                </a:solidFill>
                <a:latin typeface="Inter"/>
                <a:ea typeface="Inter"/>
                <a:cs typeface="Inter"/>
                <a:sym typeface="Inter"/>
              </a:rPr>
              <a:t>DEMOSTRACIÓN  /  01 DE 05</a:t>
            </a:r>
            <a:endParaRPr b="0" i="0" sz="1060" u="none" cap="none" strike="noStrike">
              <a:solidFill>
                <a:schemeClr val="dk1"/>
              </a:solidFill>
              <a:latin typeface="Inter"/>
              <a:ea typeface="Inter"/>
              <a:cs typeface="Inter"/>
              <a:sym typeface="Inter"/>
            </a:endParaRPr>
          </a:p>
        </p:txBody>
      </p:sp>
      <p:sp>
        <p:nvSpPr>
          <p:cNvPr id="262" name="Google Shape;262;p9"/>
          <p:cNvSpPr/>
          <p:nvPr/>
        </p:nvSpPr>
        <p:spPr>
          <a:xfrm>
            <a:off x="685800" y="612648"/>
            <a:ext cx="10515600" cy="4297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850"/>
              <a:buFont typeface="Inter"/>
              <a:buNone/>
            </a:pPr>
            <a:r>
              <a:rPr b="1" i="0" lang="en-US" sz="2850" u="none" cap="none" strike="noStrike">
                <a:solidFill>
                  <a:srgbClr val="F3F8FB"/>
                </a:solidFill>
                <a:latin typeface="Inter"/>
                <a:ea typeface="Inter"/>
                <a:cs typeface="Inter"/>
                <a:sym typeface="Inter"/>
              </a:rPr>
              <a:t>Clasificación y aprobación</a:t>
            </a:r>
            <a:endParaRPr b="0" i="0" sz="2850" u="none" cap="none" strike="noStrike">
              <a:solidFill>
                <a:schemeClr val="dk1"/>
              </a:solidFill>
              <a:latin typeface="Inter"/>
              <a:ea typeface="Inter"/>
              <a:cs typeface="Inter"/>
              <a:sym typeface="Inter"/>
            </a:endParaRPr>
          </a:p>
        </p:txBody>
      </p:sp>
      <p:sp>
        <p:nvSpPr>
          <p:cNvPr id="263" name="Google Shape;263;p9"/>
          <p:cNvSpPr/>
          <p:nvPr/>
        </p:nvSpPr>
        <p:spPr>
          <a:xfrm>
            <a:off x="685800" y="1014984"/>
            <a:ext cx="105156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30"/>
              <a:buFont typeface="Inter"/>
              <a:buNone/>
            </a:pPr>
            <a:r>
              <a:rPr b="0" i="0" lang="en-US" sz="1330" u="none" cap="none" strike="noStrike">
                <a:solidFill>
                  <a:srgbClr val="B8CAD5"/>
                </a:solidFill>
                <a:latin typeface="Inter"/>
                <a:ea typeface="Inter"/>
                <a:cs typeface="Inter"/>
                <a:sym typeface="Inter"/>
              </a:rPr>
              <a:t>Consulta RAG · fuentes · plan · HITL aprobado</a:t>
            </a:r>
            <a:endParaRPr b="0" i="0" sz="1330" u="none" cap="none" strike="noStrike">
              <a:solidFill>
                <a:schemeClr val="dk1"/>
              </a:solidFill>
              <a:latin typeface="Inter"/>
              <a:ea typeface="Inter"/>
              <a:cs typeface="Inter"/>
              <a:sym typeface="Inter"/>
            </a:endParaRPr>
          </a:p>
        </p:txBody>
      </p:sp>
      <p:pic>
        <p:nvPicPr>
          <p:cNvPr id="264" name="Google Shape;264;p9" title="toma1_rag_botella.mp4">
            <a:hlinkClick r:id="rId3"/>
          </p:cNvPr>
          <p:cNvPicPr preferRelativeResize="0"/>
          <p:nvPr/>
        </p:nvPicPr>
        <p:blipFill>
          <a:blip r:embed="rId4">
            <a:alphaModFix/>
          </a:blip>
          <a:stretch>
            <a:fillRect/>
          </a:stretch>
        </p:blipFill>
        <p:spPr>
          <a:xfrm>
            <a:off x="1667513" y="1431037"/>
            <a:ext cx="8856982" cy="50292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269" name="Shape 269"/>
        <p:cNvGrpSpPr/>
        <p:nvPr/>
      </p:nvGrpSpPr>
      <p:grpSpPr>
        <a:xfrm>
          <a:off x="0" y="0"/>
          <a:ext cx="0" cy="0"/>
          <a:chOff x="0" y="0"/>
          <a:chExt cx="0" cy="0"/>
        </a:xfrm>
      </p:grpSpPr>
      <p:cxnSp>
        <p:nvCxnSpPr>
          <p:cNvPr id="270" name="Google Shape;270;p10"/>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271" name="Google Shape;271;p10"/>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272" name="Google Shape;272;p10"/>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DEMOSTRACIONES</a:t>
            </a:r>
            <a:endParaRPr b="0" i="0" sz="840" u="none" cap="none" strike="noStrike">
              <a:solidFill>
                <a:schemeClr val="dk1"/>
              </a:solidFill>
              <a:latin typeface="Inter"/>
              <a:ea typeface="Inter"/>
              <a:cs typeface="Inter"/>
              <a:sym typeface="Inter"/>
            </a:endParaRPr>
          </a:p>
        </p:txBody>
      </p:sp>
      <p:sp>
        <p:nvSpPr>
          <p:cNvPr id="273" name="Google Shape;273;p10"/>
          <p:cNvSpPr/>
          <p:nvPr/>
        </p:nvSpPr>
        <p:spPr>
          <a:xfrm>
            <a:off x="685800" y="320040"/>
            <a:ext cx="466344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60"/>
              <a:buFont typeface="Inter"/>
              <a:buNone/>
            </a:pPr>
            <a:r>
              <a:rPr b="1" i="0" lang="en-US" sz="1060" u="none" cap="none" strike="noStrike">
                <a:solidFill>
                  <a:srgbClr val="20D9B2"/>
                </a:solidFill>
                <a:latin typeface="Inter"/>
                <a:ea typeface="Inter"/>
                <a:cs typeface="Inter"/>
                <a:sym typeface="Inter"/>
              </a:rPr>
              <a:t>DEMOSTRACIÓN  /  02 DE 05</a:t>
            </a:r>
            <a:endParaRPr b="0" i="0" sz="1060" u="none" cap="none" strike="noStrike">
              <a:solidFill>
                <a:schemeClr val="dk1"/>
              </a:solidFill>
              <a:latin typeface="Inter"/>
              <a:ea typeface="Inter"/>
              <a:cs typeface="Inter"/>
              <a:sym typeface="Inter"/>
            </a:endParaRPr>
          </a:p>
        </p:txBody>
      </p:sp>
      <p:sp>
        <p:nvSpPr>
          <p:cNvPr id="274" name="Google Shape;274;p10"/>
          <p:cNvSpPr/>
          <p:nvPr/>
        </p:nvSpPr>
        <p:spPr>
          <a:xfrm>
            <a:off x="685800" y="612648"/>
            <a:ext cx="10515600" cy="4297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850"/>
              <a:buFont typeface="Inter"/>
              <a:buNone/>
            </a:pPr>
            <a:r>
              <a:rPr b="1" i="0" lang="en-US" sz="2850" u="none" cap="none" strike="noStrike">
                <a:solidFill>
                  <a:srgbClr val="F3F8FB"/>
                </a:solidFill>
                <a:latin typeface="Inter"/>
                <a:ea typeface="Inter"/>
                <a:cs typeface="Inter"/>
                <a:sym typeface="Inter"/>
              </a:rPr>
              <a:t>Dos especialistas, API y mapa</a:t>
            </a:r>
            <a:endParaRPr b="0" i="0" sz="2850" u="none" cap="none" strike="noStrike">
              <a:solidFill>
                <a:schemeClr val="dk1"/>
              </a:solidFill>
              <a:latin typeface="Inter"/>
              <a:ea typeface="Inter"/>
              <a:cs typeface="Inter"/>
              <a:sym typeface="Inter"/>
            </a:endParaRPr>
          </a:p>
        </p:txBody>
      </p:sp>
      <p:sp>
        <p:nvSpPr>
          <p:cNvPr id="275" name="Google Shape;275;p10"/>
          <p:cNvSpPr/>
          <p:nvPr/>
        </p:nvSpPr>
        <p:spPr>
          <a:xfrm>
            <a:off x="685800" y="1014984"/>
            <a:ext cx="105156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30"/>
              <a:buFont typeface="Inter"/>
              <a:buNone/>
            </a:pPr>
            <a:r>
              <a:rPr b="0" i="0" lang="en-US" sz="1330" u="none" cap="none" strike="noStrike">
                <a:solidFill>
                  <a:srgbClr val="B8CAD5"/>
                </a:solidFill>
                <a:latin typeface="Inter"/>
                <a:ea typeface="Inter"/>
                <a:cs typeface="Inter"/>
                <a:sym typeface="Inter"/>
              </a:rPr>
              <a:t>Supervisor → residuos + puntos → RAG + ArcGIS + hora</a:t>
            </a:r>
            <a:endParaRPr b="0" i="0" sz="1330" u="none" cap="none" strike="noStrike">
              <a:solidFill>
                <a:schemeClr val="dk1"/>
              </a:solidFill>
              <a:latin typeface="Inter"/>
              <a:ea typeface="Inter"/>
              <a:cs typeface="Inter"/>
              <a:sym typeface="Inter"/>
            </a:endParaRPr>
          </a:p>
        </p:txBody>
      </p:sp>
      <p:pic>
        <p:nvPicPr>
          <p:cNvPr id="276" name="Google Shape;276;p10" title="toma02-tools-pilas.mp4">
            <a:hlinkClick r:id="rId3"/>
          </p:cNvPr>
          <p:cNvPicPr preferRelativeResize="0"/>
          <p:nvPr/>
        </p:nvPicPr>
        <p:blipFill>
          <a:blip r:embed="rId4">
            <a:alphaModFix/>
          </a:blip>
          <a:stretch>
            <a:fillRect/>
          </a:stretch>
        </p:blipFill>
        <p:spPr>
          <a:xfrm>
            <a:off x="1686300" y="1423417"/>
            <a:ext cx="8819403" cy="50078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281" name="Shape 281"/>
        <p:cNvGrpSpPr/>
        <p:nvPr/>
      </p:nvGrpSpPr>
      <p:grpSpPr>
        <a:xfrm>
          <a:off x="0" y="0"/>
          <a:ext cx="0" cy="0"/>
          <a:chOff x="0" y="0"/>
          <a:chExt cx="0" cy="0"/>
        </a:xfrm>
      </p:grpSpPr>
      <p:cxnSp>
        <p:nvCxnSpPr>
          <p:cNvPr id="282" name="Google Shape;282;p11"/>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283" name="Google Shape;283;p11"/>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284" name="Google Shape;284;p11"/>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DEMOSTRACIONES</a:t>
            </a:r>
            <a:endParaRPr b="0" i="0" sz="840" u="none" cap="none" strike="noStrike">
              <a:solidFill>
                <a:schemeClr val="dk1"/>
              </a:solidFill>
              <a:latin typeface="Inter"/>
              <a:ea typeface="Inter"/>
              <a:cs typeface="Inter"/>
              <a:sym typeface="Inter"/>
            </a:endParaRPr>
          </a:p>
        </p:txBody>
      </p:sp>
      <p:sp>
        <p:nvSpPr>
          <p:cNvPr id="285" name="Google Shape;285;p11"/>
          <p:cNvSpPr/>
          <p:nvPr/>
        </p:nvSpPr>
        <p:spPr>
          <a:xfrm>
            <a:off x="685800" y="320040"/>
            <a:ext cx="466344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60"/>
              <a:buFont typeface="Inter"/>
              <a:buNone/>
            </a:pPr>
            <a:r>
              <a:rPr b="1" i="0" lang="en-US" sz="1060" u="none" cap="none" strike="noStrike">
                <a:solidFill>
                  <a:srgbClr val="20D9B2"/>
                </a:solidFill>
                <a:latin typeface="Inter"/>
                <a:ea typeface="Inter"/>
                <a:cs typeface="Inter"/>
                <a:sym typeface="Inter"/>
              </a:rPr>
              <a:t>DEMOSTRACIÓN  /  03 DE 05</a:t>
            </a:r>
            <a:endParaRPr b="0" i="0" sz="1060" u="none" cap="none" strike="noStrike">
              <a:solidFill>
                <a:schemeClr val="dk1"/>
              </a:solidFill>
              <a:latin typeface="Inter"/>
              <a:ea typeface="Inter"/>
              <a:cs typeface="Inter"/>
              <a:sym typeface="Inter"/>
            </a:endParaRPr>
          </a:p>
        </p:txBody>
      </p:sp>
      <p:sp>
        <p:nvSpPr>
          <p:cNvPr id="286" name="Google Shape;286;p11"/>
          <p:cNvSpPr/>
          <p:nvPr/>
        </p:nvSpPr>
        <p:spPr>
          <a:xfrm>
            <a:off x="685800" y="612648"/>
            <a:ext cx="10515600" cy="4297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850"/>
              <a:buFont typeface="Inter"/>
              <a:buNone/>
            </a:pPr>
            <a:r>
              <a:rPr b="1" i="0" lang="en-US" sz="2850" u="none" cap="none" strike="noStrike">
                <a:solidFill>
                  <a:srgbClr val="F3F8FB"/>
                </a:solidFill>
                <a:latin typeface="Inter"/>
                <a:ea typeface="Inter"/>
                <a:cs typeface="Inter"/>
                <a:sym typeface="Inter"/>
              </a:rPr>
              <a:t>Entrada multimodal</a:t>
            </a:r>
            <a:endParaRPr b="0" i="0" sz="2850" u="none" cap="none" strike="noStrike">
              <a:solidFill>
                <a:schemeClr val="dk1"/>
              </a:solidFill>
              <a:latin typeface="Inter"/>
              <a:ea typeface="Inter"/>
              <a:cs typeface="Inter"/>
              <a:sym typeface="Inter"/>
            </a:endParaRPr>
          </a:p>
        </p:txBody>
      </p:sp>
      <p:sp>
        <p:nvSpPr>
          <p:cNvPr id="287" name="Google Shape;287;p11"/>
          <p:cNvSpPr/>
          <p:nvPr/>
        </p:nvSpPr>
        <p:spPr>
          <a:xfrm>
            <a:off x="685800" y="1014984"/>
            <a:ext cx="105156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30"/>
              <a:buFont typeface="Inter"/>
              <a:buNone/>
            </a:pPr>
            <a:r>
              <a:rPr b="0" i="0" lang="en-US" sz="1330" u="none" cap="none" strike="noStrike">
                <a:solidFill>
                  <a:srgbClr val="B8CAD5"/>
                </a:solidFill>
                <a:latin typeface="Inter"/>
                <a:ea typeface="Inter"/>
                <a:cs typeface="Inter"/>
                <a:sym typeface="Inter"/>
              </a:rPr>
              <a:t>Imagen → describir_imagen → clasificación contrastada</a:t>
            </a:r>
            <a:endParaRPr b="0" i="0" sz="1330" u="none" cap="none" strike="noStrike">
              <a:solidFill>
                <a:schemeClr val="dk1"/>
              </a:solidFill>
              <a:latin typeface="Inter"/>
              <a:ea typeface="Inter"/>
              <a:cs typeface="Inter"/>
              <a:sym typeface="Inter"/>
            </a:endParaRPr>
          </a:p>
        </p:txBody>
      </p:sp>
      <p:pic>
        <p:nvPicPr>
          <p:cNvPr id="288" name="Google Shape;288;p11" title="toma03-imagen-capsula.mp4">
            <a:hlinkClick r:id="rId3"/>
          </p:cNvPr>
          <p:cNvPicPr preferRelativeResize="0"/>
          <p:nvPr/>
        </p:nvPicPr>
        <p:blipFill>
          <a:blip r:embed="rId4">
            <a:alphaModFix/>
          </a:blip>
          <a:stretch>
            <a:fillRect/>
          </a:stretch>
        </p:blipFill>
        <p:spPr>
          <a:xfrm>
            <a:off x="1690938" y="1441704"/>
            <a:ext cx="8810129" cy="50078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293" name="Shape 293"/>
        <p:cNvGrpSpPr/>
        <p:nvPr/>
      </p:nvGrpSpPr>
      <p:grpSpPr>
        <a:xfrm>
          <a:off x="0" y="0"/>
          <a:ext cx="0" cy="0"/>
          <a:chOff x="0" y="0"/>
          <a:chExt cx="0" cy="0"/>
        </a:xfrm>
      </p:grpSpPr>
      <p:cxnSp>
        <p:nvCxnSpPr>
          <p:cNvPr id="294" name="Google Shape;294;p12"/>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295" name="Google Shape;295;p12"/>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296" name="Google Shape;296;p12"/>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DEMOSTRACIONES</a:t>
            </a:r>
            <a:endParaRPr b="0" i="0" sz="840" u="none" cap="none" strike="noStrike">
              <a:solidFill>
                <a:schemeClr val="dk1"/>
              </a:solidFill>
              <a:latin typeface="Inter"/>
              <a:ea typeface="Inter"/>
              <a:cs typeface="Inter"/>
              <a:sym typeface="Inter"/>
            </a:endParaRPr>
          </a:p>
        </p:txBody>
      </p:sp>
      <p:sp>
        <p:nvSpPr>
          <p:cNvPr id="297" name="Google Shape;297;p12"/>
          <p:cNvSpPr/>
          <p:nvPr/>
        </p:nvSpPr>
        <p:spPr>
          <a:xfrm>
            <a:off x="685800" y="320040"/>
            <a:ext cx="466344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60"/>
              <a:buFont typeface="Inter"/>
              <a:buNone/>
            </a:pPr>
            <a:r>
              <a:rPr b="1" i="0" lang="en-US" sz="1060" u="none" cap="none" strike="noStrike">
                <a:solidFill>
                  <a:srgbClr val="20D9B2"/>
                </a:solidFill>
                <a:latin typeface="Inter"/>
                <a:ea typeface="Inter"/>
                <a:cs typeface="Inter"/>
                <a:sym typeface="Inter"/>
              </a:rPr>
              <a:t>DEMOSTRACIÓN  /  04 DE 05</a:t>
            </a:r>
            <a:endParaRPr b="0" i="0" sz="1060" u="none" cap="none" strike="noStrike">
              <a:solidFill>
                <a:schemeClr val="dk1"/>
              </a:solidFill>
              <a:latin typeface="Inter"/>
              <a:ea typeface="Inter"/>
              <a:cs typeface="Inter"/>
              <a:sym typeface="Inter"/>
            </a:endParaRPr>
          </a:p>
        </p:txBody>
      </p:sp>
      <p:sp>
        <p:nvSpPr>
          <p:cNvPr id="298" name="Google Shape;298;p12"/>
          <p:cNvSpPr/>
          <p:nvPr/>
        </p:nvSpPr>
        <p:spPr>
          <a:xfrm>
            <a:off x="685800" y="612648"/>
            <a:ext cx="10515600" cy="4297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850"/>
              <a:buFont typeface="Inter"/>
              <a:buNone/>
            </a:pPr>
            <a:r>
              <a:rPr b="1" i="0" lang="en-US" sz="2850" u="none" cap="none" strike="noStrike">
                <a:solidFill>
                  <a:srgbClr val="F3F8FB"/>
                </a:solidFill>
                <a:latin typeface="Inter"/>
                <a:ea typeface="Inter"/>
                <a:cs typeface="Inter"/>
                <a:sym typeface="Inter"/>
              </a:rPr>
              <a:t>Rechazo y reformulación</a:t>
            </a:r>
            <a:endParaRPr b="0" i="0" sz="2850" u="none" cap="none" strike="noStrike">
              <a:solidFill>
                <a:schemeClr val="dk1"/>
              </a:solidFill>
              <a:latin typeface="Inter"/>
              <a:ea typeface="Inter"/>
              <a:cs typeface="Inter"/>
              <a:sym typeface="Inter"/>
            </a:endParaRPr>
          </a:p>
        </p:txBody>
      </p:sp>
      <p:sp>
        <p:nvSpPr>
          <p:cNvPr id="299" name="Google Shape;299;p12"/>
          <p:cNvSpPr/>
          <p:nvPr/>
        </p:nvSpPr>
        <p:spPr>
          <a:xfrm>
            <a:off x="685800" y="1014984"/>
            <a:ext cx="105156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30"/>
              <a:buFont typeface="Inter"/>
              <a:buNone/>
            </a:pPr>
            <a:r>
              <a:rPr b="0" i="0" lang="en-US" sz="1330" u="none" cap="none" strike="noStrike">
                <a:solidFill>
                  <a:srgbClr val="B8CAD5"/>
                </a:solidFill>
                <a:latin typeface="Inter"/>
                <a:ea typeface="Inter"/>
                <a:cs typeface="Inter"/>
                <a:sym typeface="Inter"/>
              </a:rPr>
              <a:t>Mismo thread_id · plan re</a:t>
            </a:r>
            <a:r>
              <a:rPr lang="en-US" sz="1330">
                <a:solidFill>
                  <a:srgbClr val="B8CAD5"/>
                </a:solidFill>
                <a:latin typeface="Inter"/>
                <a:ea typeface="Inter"/>
                <a:cs typeface="Inter"/>
                <a:sym typeface="Inter"/>
              </a:rPr>
              <a:t>chazado</a:t>
            </a:r>
            <a:r>
              <a:rPr b="0" i="0" lang="en-US" sz="1330" u="none" cap="none" strike="noStrike">
                <a:solidFill>
                  <a:srgbClr val="B8CAD5"/>
                </a:solidFill>
                <a:latin typeface="Inter"/>
                <a:ea typeface="Inter"/>
                <a:cs typeface="Inter"/>
                <a:sym typeface="Inter"/>
              </a:rPr>
              <a:t> · nuevo turno</a:t>
            </a:r>
            <a:endParaRPr b="0" i="0" sz="1330" u="none" cap="none" strike="noStrike">
              <a:solidFill>
                <a:schemeClr val="dk1"/>
              </a:solidFill>
              <a:latin typeface="Inter"/>
              <a:ea typeface="Inter"/>
              <a:cs typeface="Inter"/>
              <a:sym typeface="Inter"/>
            </a:endParaRPr>
          </a:p>
        </p:txBody>
      </p:sp>
      <p:pic>
        <p:nvPicPr>
          <p:cNvPr id="300" name="Google Shape;300;p12" title="toma04-hamaca-mueble.mp4">
            <a:hlinkClick r:id="rId3"/>
          </p:cNvPr>
          <p:cNvPicPr preferRelativeResize="0"/>
          <p:nvPr/>
        </p:nvPicPr>
        <p:blipFill>
          <a:blip r:embed="rId4">
            <a:alphaModFix/>
          </a:blip>
          <a:stretch>
            <a:fillRect/>
          </a:stretch>
        </p:blipFill>
        <p:spPr>
          <a:xfrm>
            <a:off x="1681663" y="1423417"/>
            <a:ext cx="8828677" cy="50078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305" name="Shape 305"/>
        <p:cNvGrpSpPr/>
        <p:nvPr/>
      </p:nvGrpSpPr>
      <p:grpSpPr>
        <a:xfrm>
          <a:off x="0" y="0"/>
          <a:ext cx="0" cy="0"/>
          <a:chOff x="0" y="0"/>
          <a:chExt cx="0" cy="0"/>
        </a:xfrm>
      </p:grpSpPr>
      <p:cxnSp>
        <p:nvCxnSpPr>
          <p:cNvPr id="306" name="Google Shape;306;p13"/>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307" name="Google Shape;307;p13"/>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308" name="Google Shape;308;p13"/>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DEMOSTRACIONES</a:t>
            </a:r>
            <a:endParaRPr b="0" i="0" sz="840" u="none" cap="none" strike="noStrike">
              <a:solidFill>
                <a:schemeClr val="dk1"/>
              </a:solidFill>
              <a:latin typeface="Inter"/>
              <a:ea typeface="Inter"/>
              <a:cs typeface="Inter"/>
              <a:sym typeface="Inter"/>
            </a:endParaRPr>
          </a:p>
        </p:txBody>
      </p:sp>
      <p:sp>
        <p:nvSpPr>
          <p:cNvPr id="309" name="Google Shape;309;p13"/>
          <p:cNvSpPr/>
          <p:nvPr/>
        </p:nvSpPr>
        <p:spPr>
          <a:xfrm>
            <a:off x="685800" y="320040"/>
            <a:ext cx="466344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60"/>
              <a:buFont typeface="Inter"/>
              <a:buNone/>
            </a:pPr>
            <a:r>
              <a:rPr b="1" i="0" lang="en-US" sz="1060" u="none" cap="none" strike="noStrike">
                <a:solidFill>
                  <a:srgbClr val="20D9B2"/>
                </a:solidFill>
                <a:latin typeface="Inter"/>
                <a:ea typeface="Inter"/>
                <a:cs typeface="Inter"/>
                <a:sym typeface="Inter"/>
              </a:rPr>
              <a:t>DEMOSTRACIÓN  /  05 DE 05</a:t>
            </a:r>
            <a:endParaRPr b="0" i="0" sz="1060" u="none" cap="none" strike="noStrike">
              <a:solidFill>
                <a:schemeClr val="dk1"/>
              </a:solidFill>
              <a:latin typeface="Inter"/>
              <a:ea typeface="Inter"/>
              <a:cs typeface="Inter"/>
              <a:sym typeface="Inter"/>
            </a:endParaRPr>
          </a:p>
        </p:txBody>
      </p:sp>
      <p:sp>
        <p:nvSpPr>
          <p:cNvPr id="310" name="Google Shape;310;p13"/>
          <p:cNvSpPr/>
          <p:nvPr/>
        </p:nvSpPr>
        <p:spPr>
          <a:xfrm>
            <a:off x="685800" y="612648"/>
            <a:ext cx="10515600" cy="4297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2850"/>
              <a:buFont typeface="Inter"/>
              <a:buNone/>
            </a:pPr>
            <a:r>
              <a:rPr b="1" i="0" lang="en-US" sz="2850" u="none" cap="none" strike="noStrike">
                <a:solidFill>
                  <a:srgbClr val="F3F8FB"/>
                </a:solidFill>
                <a:latin typeface="Inter"/>
                <a:ea typeface="Inter"/>
                <a:cs typeface="Inter"/>
                <a:sym typeface="Inter"/>
              </a:rPr>
              <a:t>Abstención y diagnóstico</a:t>
            </a:r>
            <a:endParaRPr b="0" i="0" sz="2850" u="none" cap="none" strike="noStrike">
              <a:solidFill>
                <a:schemeClr val="dk1"/>
              </a:solidFill>
              <a:latin typeface="Inter"/>
              <a:ea typeface="Inter"/>
              <a:cs typeface="Inter"/>
              <a:sym typeface="Inter"/>
            </a:endParaRPr>
          </a:p>
        </p:txBody>
      </p:sp>
      <p:sp>
        <p:nvSpPr>
          <p:cNvPr id="311" name="Google Shape;311;p13"/>
          <p:cNvSpPr/>
          <p:nvPr/>
        </p:nvSpPr>
        <p:spPr>
          <a:xfrm>
            <a:off x="685800" y="1014984"/>
            <a:ext cx="105156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30"/>
              <a:buFont typeface="Inter"/>
              <a:buNone/>
            </a:pPr>
            <a:r>
              <a:rPr lang="en-US" sz="1330">
                <a:solidFill>
                  <a:srgbClr val="B8CAD5"/>
                </a:solidFill>
                <a:latin typeface="Inter"/>
                <a:ea typeface="Inter"/>
                <a:cs typeface="Inter"/>
                <a:sym typeface="Inter"/>
              </a:rPr>
              <a:t>Dominio</a:t>
            </a:r>
            <a:r>
              <a:rPr b="0" i="0" lang="en-US" sz="1330" u="none" cap="none" strike="noStrike">
                <a:solidFill>
                  <a:srgbClr val="B8CAD5"/>
                </a:solidFill>
                <a:latin typeface="Inter"/>
                <a:ea typeface="Inter"/>
                <a:cs typeface="Inter"/>
                <a:sym typeface="Inter"/>
              </a:rPr>
              <a:t> · límites · </a:t>
            </a:r>
            <a:r>
              <a:rPr lang="en-US" sz="1330">
                <a:solidFill>
                  <a:srgbClr val="B8CAD5"/>
                </a:solidFill>
                <a:latin typeface="Inter"/>
                <a:ea typeface="Inter"/>
                <a:cs typeface="Inter"/>
                <a:sym typeface="Inter"/>
              </a:rPr>
              <a:t>robustez</a:t>
            </a:r>
            <a:endParaRPr b="0" i="0" sz="1330" u="none" cap="none" strike="noStrike">
              <a:solidFill>
                <a:schemeClr val="dk1"/>
              </a:solidFill>
              <a:latin typeface="Inter"/>
              <a:ea typeface="Inter"/>
              <a:cs typeface="Inter"/>
              <a:sym typeface="Inter"/>
            </a:endParaRPr>
          </a:p>
        </p:txBody>
      </p:sp>
      <p:pic>
        <p:nvPicPr>
          <p:cNvPr id="312" name="Google Shape;312;p13" title="toma05-fuera-dominio.mp4">
            <a:hlinkClick r:id="rId3"/>
          </p:cNvPr>
          <p:cNvPicPr preferRelativeResize="0"/>
          <p:nvPr/>
        </p:nvPicPr>
        <p:blipFill>
          <a:blip r:embed="rId4">
            <a:alphaModFix/>
          </a:blip>
          <a:stretch>
            <a:fillRect/>
          </a:stretch>
        </p:blipFill>
        <p:spPr>
          <a:xfrm>
            <a:off x="1700200" y="1441704"/>
            <a:ext cx="8791581" cy="50078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317" name="Shape 317"/>
        <p:cNvGrpSpPr/>
        <p:nvPr/>
      </p:nvGrpSpPr>
      <p:grpSpPr>
        <a:xfrm>
          <a:off x="0" y="0"/>
          <a:ext cx="0" cy="0"/>
          <a:chOff x="0" y="0"/>
          <a:chExt cx="0" cy="0"/>
        </a:xfrm>
      </p:grpSpPr>
      <p:cxnSp>
        <p:nvCxnSpPr>
          <p:cNvPr id="318" name="Google Shape;318;p14"/>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319" name="Google Shape;319;p14"/>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a:t>
            </a:r>
            <a:r>
              <a:rPr b="1" lang="en-US" sz="840">
                <a:solidFill>
                  <a:srgbClr val="899DB0"/>
                </a:solidFill>
                <a:latin typeface="Inter"/>
                <a:ea typeface="Inter"/>
                <a:cs typeface="Inter"/>
                <a:sym typeface="Inter"/>
              </a:rPr>
              <a:t>Alex Bometon</a:t>
            </a:r>
            <a:endParaRPr b="0" i="0" sz="840" u="none" cap="none" strike="noStrike">
              <a:solidFill>
                <a:schemeClr val="dk1"/>
              </a:solidFill>
              <a:latin typeface="Inter"/>
              <a:ea typeface="Inter"/>
              <a:cs typeface="Inter"/>
              <a:sym typeface="Inter"/>
            </a:endParaRPr>
          </a:p>
        </p:txBody>
      </p:sp>
      <p:sp>
        <p:nvSpPr>
          <p:cNvPr id="320" name="Google Shape;320;p14"/>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CIERRE</a:t>
            </a:r>
            <a:endParaRPr b="0" i="0" sz="840" u="none" cap="none" strike="noStrike">
              <a:solidFill>
                <a:schemeClr val="dk1"/>
              </a:solidFill>
              <a:latin typeface="Inter"/>
              <a:ea typeface="Inter"/>
              <a:cs typeface="Inter"/>
              <a:sym typeface="Inter"/>
            </a:endParaRPr>
          </a:p>
        </p:txBody>
      </p:sp>
      <p:sp>
        <p:nvSpPr>
          <p:cNvPr id="321" name="Google Shape;321;p14"/>
          <p:cNvSpPr/>
          <p:nvPr/>
        </p:nvSpPr>
        <p:spPr>
          <a:xfrm>
            <a:off x="704088" y="987552"/>
            <a:ext cx="2286000" cy="347472"/>
          </a:xfrm>
          <a:prstGeom prst="roundRect">
            <a:avLst>
              <a:gd fmla="val 31579" name="adj"/>
            </a:avLst>
          </a:prstGeom>
          <a:solidFill>
            <a:srgbClr val="193730"/>
          </a:solidFill>
          <a:ln cap="flat" cmpd="sng" w="12700">
            <a:solidFill>
              <a:srgbClr val="19373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850392" y="1001268"/>
            <a:ext cx="1993392"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1030"/>
              <a:buFont typeface="Inter"/>
              <a:buNone/>
            </a:pPr>
            <a:r>
              <a:rPr b="1" i="0" lang="en-US" sz="1030" u="none" cap="none" strike="noStrike">
                <a:solidFill>
                  <a:srgbClr val="B8FE6D"/>
                </a:solidFill>
                <a:latin typeface="Inter"/>
                <a:ea typeface="Inter"/>
                <a:cs typeface="Inter"/>
                <a:sym typeface="Inter"/>
              </a:rPr>
              <a:t>RECICLATIA / PB02</a:t>
            </a:r>
            <a:endParaRPr b="0" i="0" sz="1030" u="none" cap="none" strike="noStrike">
              <a:solidFill>
                <a:schemeClr val="dk1"/>
              </a:solidFill>
              <a:latin typeface="Inter"/>
              <a:ea typeface="Inter"/>
              <a:cs typeface="Inter"/>
              <a:sym typeface="Inter"/>
            </a:endParaRPr>
          </a:p>
        </p:txBody>
      </p:sp>
      <p:sp>
        <p:nvSpPr>
          <p:cNvPr id="323" name="Google Shape;323;p14"/>
          <p:cNvSpPr/>
          <p:nvPr/>
        </p:nvSpPr>
        <p:spPr>
          <a:xfrm>
            <a:off x="676656" y="1828800"/>
            <a:ext cx="9601200" cy="1344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4400"/>
              <a:buFont typeface="Inter"/>
              <a:buNone/>
            </a:pPr>
            <a:r>
              <a:rPr b="1" i="0" lang="en-US" sz="4400" u="none" cap="none" strike="noStrike">
                <a:solidFill>
                  <a:srgbClr val="F3F8FB"/>
                </a:solidFill>
                <a:latin typeface="Inter"/>
                <a:ea typeface="Inter"/>
                <a:cs typeface="Inter"/>
                <a:sym typeface="Inter"/>
              </a:rPr>
              <a:t>No se trata solo de</a:t>
            </a:r>
            <a:endParaRPr b="0" i="0" sz="44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3F8FB"/>
              </a:buClr>
              <a:buSzPts val="4400"/>
              <a:buFont typeface="Inter"/>
              <a:buNone/>
            </a:pPr>
            <a:r>
              <a:rPr b="1" i="0" lang="en-US" sz="4400" u="none" cap="none" strike="noStrike">
                <a:solidFill>
                  <a:srgbClr val="F3F8FB"/>
                </a:solidFill>
                <a:latin typeface="Inter"/>
                <a:ea typeface="Inter"/>
                <a:cs typeface="Inter"/>
                <a:sym typeface="Inter"/>
              </a:rPr>
              <a:t>responder.</a:t>
            </a:r>
            <a:endParaRPr b="0" i="0" sz="4400" u="none" cap="none" strike="noStrike">
              <a:solidFill>
                <a:schemeClr val="dk1"/>
              </a:solidFill>
              <a:latin typeface="Inter"/>
              <a:ea typeface="Inter"/>
              <a:cs typeface="Inter"/>
              <a:sym typeface="Inter"/>
            </a:endParaRPr>
          </a:p>
        </p:txBody>
      </p:sp>
      <p:sp>
        <p:nvSpPr>
          <p:cNvPr id="324" name="Google Shape;324;p14"/>
          <p:cNvSpPr/>
          <p:nvPr/>
        </p:nvSpPr>
        <p:spPr>
          <a:xfrm>
            <a:off x="713232" y="3374136"/>
            <a:ext cx="10579608" cy="9235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3300"/>
              <a:buFont typeface="Inter"/>
              <a:buNone/>
            </a:pPr>
            <a:r>
              <a:rPr b="1" i="0" lang="en-US" sz="3300" u="none" cap="none" strike="noStrike">
                <a:solidFill>
                  <a:srgbClr val="20D9B2"/>
                </a:solidFill>
                <a:latin typeface="Inter"/>
                <a:ea typeface="Inter"/>
                <a:cs typeface="Inter"/>
                <a:sym typeface="Inter"/>
              </a:rPr>
              <a:t>Se trata de controlar cómo se responde.</a:t>
            </a:r>
            <a:endParaRPr b="0" i="0" sz="3300" u="none" cap="none" strike="noStrike">
              <a:solidFill>
                <a:schemeClr val="dk1"/>
              </a:solidFill>
              <a:latin typeface="Inter"/>
              <a:ea typeface="Inter"/>
              <a:cs typeface="Inter"/>
              <a:sym typeface="Inter"/>
            </a:endParaRPr>
          </a:p>
        </p:txBody>
      </p:sp>
      <p:sp>
        <p:nvSpPr>
          <p:cNvPr id="325" name="Google Shape;325;p14"/>
          <p:cNvSpPr/>
          <p:nvPr/>
        </p:nvSpPr>
        <p:spPr>
          <a:xfrm>
            <a:off x="749808" y="4992624"/>
            <a:ext cx="3090672" cy="832104"/>
          </a:xfrm>
          <a:prstGeom prst="roundRect">
            <a:avLst>
              <a:gd fmla="val 19780"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960120" y="5166360"/>
            <a:ext cx="2706624"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80"/>
              <a:buFont typeface="Inter"/>
              <a:buNone/>
            </a:pPr>
            <a:r>
              <a:rPr b="1" i="0" lang="en-US" sz="1080" u="none" cap="none" strike="noStrike">
                <a:solidFill>
                  <a:srgbClr val="20D9B2"/>
                </a:solidFill>
                <a:latin typeface="Inter"/>
                <a:ea typeface="Inter"/>
                <a:cs typeface="Inter"/>
                <a:sym typeface="Inter"/>
              </a:rPr>
              <a:t>EVIDENCIA</a:t>
            </a:r>
            <a:endParaRPr b="0" i="0" sz="1080" u="none" cap="none" strike="noStrike">
              <a:solidFill>
                <a:schemeClr val="dk1"/>
              </a:solidFill>
              <a:latin typeface="Inter"/>
              <a:ea typeface="Inter"/>
              <a:cs typeface="Inter"/>
              <a:sym typeface="Inter"/>
            </a:endParaRPr>
          </a:p>
        </p:txBody>
      </p:sp>
      <p:sp>
        <p:nvSpPr>
          <p:cNvPr id="327" name="Google Shape;327;p14"/>
          <p:cNvSpPr/>
          <p:nvPr/>
        </p:nvSpPr>
        <p:spPr>
          <a:xfrm>
            <a:off x="960120" y="5458968"/>
            <a:ext cx="270662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330"/>
              <a:buFont typeface="Inter"/>
              <a:buNone/>
            </a:pPr>
            <a:r>
              <a:rPr b="0" i="0" lang="en-US" sz="1330" u="none" cap="none" strike="noStrike">
                <a:solidFill>
                  <a:srgbClr val="F3F8FB"/>
                </a:solidFill>
                <a:latin typeface="Inter"/>
                <a:ea typeface="Inter"/>
                <a:cs typeface="Inter"/>
                <a:sym typeface="Inter"/>
              </a:rPr>
              <a:t>RAG y fuentes</a:t>
            </a:r>
            <a:endParaRPr b="0" i="0" sz="1330" u="none" cap="none" strike="noStrike">
              <a:solidFill>
                <a:schemeClr val="dk1"/>
              </a:solidFill>
              <a:latin typeface="Inter"/>
              <a:ea typeface="Inter"/>
              <a:cs typeface="Inter"/>
              <a:sym typeface="Inter"/>
            </a:endParaRPr>
          </a:p>
        </p:txBody>
      </p:sp>
      <p:sp>
        <p:nvSpPr>
          <p:cNvPr id="328" name="Google Shape;328;p14"/>
          <p:cNvSpPr/>
          <p:nvPr/>
        </p:nvSpPr>
        <p:spPr>
          <a:xfrm>
            <a:off x="4160520" y="4992624"/>
            <a:ext cx="3090672" cy="832104"/>
          </a:xfrm>
          <a:prstGeom prst="roundRect">
            <a:avLst>
              <a:gd fmla="val 19780"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p:nvPr/>
        </p:nvSpPr>
        <p:spPr>
          <a:xfrm>
            <a:off x="4370832" y="5166360"/>
            <a:ext cx="2706624"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4CACFF"/>
              </a:buClr>
              <a:buSzPts val="1080"/>
              <a:buFont typeface="Inter"/>
              <a:buNone/>
            </a:pPr>
            <a:r>
              <a:rPr b="1" i="0" lang="en-US" sz="1080" u="none" cap="none" strike="noStrike">
                <a:solidFill>
                  <a:srgbClr val="4CACFF"/>
                </a:solidFill>
                <a:latin typeface="Inter"/>
                <a:ea typeface="Inter"/>
                <a:cs typeface="Inter"/>
                <a:sym typeface="Inter"/>
              </a:rPr>
              <a:t>ORQUESTACIÓN</a:t>
            </a:r>
            <a:endParaRPr b="0" i="0" sz="1080" u="none" cap="none" strike="noStrike">
              <a:solidFill>
                <a:schemeClr val="dk1"/>
              </a:solidFill>
              <a:latin typeface="Inter"/>
              <a:ea typeface="Inter"/>
              <a:cs typeface="Inter"/>
              <a:sym typeface="Inter"/>
            </a:endParaRPr>
          </a:p>
        </p:txBody>
      </p:sp>
      <p:sp>
        <p:nvSpPr>
          <p:cNvPr id="330" name="Google Shape;330;p14"/>
          <p:cNvSpPr/>
          <p:nvPr/>
        </p:nvSpPr>
        <p:spPr>
          <a:xfrm>
            <a:off x="4370832" y="5458968"/>
            <a:ext cx="270662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330"/>
              <a:buFont typeface="Inter"/>
              <a:buNone/>
            </a:pPr>
            <a:r>
              <a:rPr b="0" i="0" lang="en-US" sz="1330" u="none" cap="none" strike="noStrike">
                <a:solidFill>
                  <a:srgbClr val="F3F8FB"/>
                </a:solidFill>
                <a:latin typeface="Inter"/>
                <a:ea typeface="Inter"/>
                <a:cs typeface="Inter"/>
                <a:sym typeface="Inter"/>
              </a:rPr>
              <a:t>Roles y herramientas</a:t>
            </a:r>
            <a:endParaRPr b="0" i="0" sz="1330" u="none" cap="none" strike="noStrike">
              <a:solidFill>
                <a:schemeClr val="dk1"/>
              </a:solidFill>
              <a:latin typeface="Inter"/>
              <a:ea typeface="Inter"/>
              <a:cs typeface="Inter"/>
              <a:sym typeface="Inter"/>
            </a:endParaRPr>
          </a:p>
        </p:txBody>
      </p:sp>
      <p:sp>
        <p:nvSpPr>
          <p:cNvPr id="331" name="Google Shape;331;p14"/>
          <p:cNvSpPr/>
          <p:nvPr/>
        </p:nvSpPr>
        <p:spPr>
          <a:xfrm>
            <a:off x="7571232" y="4992624"/>
            <a:ext cx="3090672" cy="832104"/>
          </a:xfrm>
          <a:prstGeom prst="roundRect">
            <a:avLst>
              <a:gd fmla="val 19780"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7781544" y="5166360"/>
            <a:ext cx="2706624"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1080"/>
              <a:buFont typeface="Inter"/>
              <a:buNone/>
            </a:pPr>
            <a:r>
              <a:rPr b="1" i="0" lang="en-US" sz="1080" u="none" cap="none" strike="noStrike">
                <a:solidFill>
                  <a:srgbClr val="B8FE6D"/>
                </a:solidFill>
                <a:latin typeface="Inter"/>
                <a:ea typeface="Inter"/>
                <a:cs typeface="Inter"/>
                <a:sym typeface="Inter"/>
              </a:rPr>
              <a:t>AUTORIZACIÓN</a:t>
            </a:r>
            <a:endParaRPr b="0" i="0" sz="1080" u="none" cap="none" strike="noStrike">
              <a:solidFill>
                <a:schemeClr val="dk1"/>
              </a:solidFill>
              <a:latin typeface="Inter"/>
              <a:ea typeface="Inter"/>
              <a:cs typeface="Inter"/>
              <a:sym typeface="Inter"/>
            </a:endParaRPr>
          </a:p>
        </p:txBody>
      </p:sp>
      <p:sp>
        <p:nvSpPr>
          <p:cNvPr id="333" name="Google Shape;333;p14"/>
          <p:cNvSpPr/>
          <p:nvPr/>
        </p:nvSpPr>
        <p:spPr>
          <a:xfrm>
            <a:off x="7781544" y="5458968"/>
            <a:ext cx="270662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330"/>
              <a:buFont typeface="Inter"/>
              <a:buNone/>
            </a:pPr>
            <a:r>
              <a:rPr b="0" i="0" lang="en-US" sz="1330" u="none" cap="none" strike="noStrike">
                <a:solidFill>
                  <a:srgbClr val="F3F8FB"/>
                </a:solidFill>
                <a:latin typeface="Inter"/>
                <a:ea typeface="Inter"/>
                <a:cs typeface="Inter"/>
                <a:sym typeface="Inter"/>
              </a:rPr>
              <a:t>HITL y estado</a:t>
            </a:r>
            <a:endParaRPr b="0" i="0" sz="1330" u="none" cap="none" strike="noStrike">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338" name="Shape 338"/>
        <p:cNvGrpSpPr/>
        <p:nvPr/>
      </p:nvGrpSpPr>
      <p:grpSpPr>
        <a:xfrm>
          <a:off x="0" y="0"/>
          <a:ext cx="0" cy="0"/>
          <a:chOff x="0" y="0"/>
          <a:chExt cx="0" cy="0"/>
        </a:xfrm>
      </p:grpSpPr>
      <p:cxnSp>
        <p:nvCxnSpPr>
          <p:cNvPr id="339" name="Google Shape;339;p15"/>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340" name="Google Shape;340;p15"/>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PB02</a:t>
            </a:r>
            <a:endParaRPr b="0" i="0" sz="840" u="none" cap="none" strike="noStrike">
              <a:solidFill>
                <a:schemeClr val="dk1"/>
              </a:solidFill>
              <a:latin typeface="Inter"/>
              <a:ea typeface="Inter"/>
              <a:cs typeface="Inter"/>
              <a:sym typeface="Inter"/>
            </a:endParaRPr>
          </a:p>
        </p:txBody>
      </p:sp>
      <p:sp>
        <p:nvSpPr>
          <p:cNvPr id="341" name="Google Shape;341;p15"/>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ANEXO OPCIONAL</a:t>
            </a:r>
            <a:endParaRPr b="0" i="0" sz="840" u="none" cap="none" strike="noStrike">
              <a:solidFill>
                <a:schemeClr val="dk1"/>
              </a:solidFill>
              <a:latin typeface="Inter"/>
              <a:ea typeface="Inter"/>
              <a:cs typeface="Inter"/>
              <a:sym typeface="Inter"/>
            </a:endParaRPr>
          </a:p>
        </p:txBody>
      </p:sp>
      <p:sp>
        <p:nvSpPr>
          <p:cNvPr id="342" name="Google Shape;342;p15"/>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MATERIAL DE APOYO</a:t>
            </a:r>
            <a:endParaRPr b="0" i="0" sz="1050" u="none" cap="none" strike="noStrike">
              <a:solidFill>
                <a:schemeClr val="dk1"/>
              </a:solidFill>
              <a:latin typeface="Inter"/>
              <a:ea typeface="Inter"/>
              <a:cs typeface="Inter"/>
              <a:sym typeface="Inter"/>
            </a:endParaRPr>
          </a:p>
        </p:txBody>
      </p:sp>
      <p:sp>
        <p:nvSpPr>
          <p:cNvPr id="343" name="Google Shape;343;p15"/>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Repositorio y ejecución reproducible</a:t>
            </a:r>
            <a:endParaRPr b="0" i="0" sz="3150" u="none" cap="none" strike="noStrike">
              <a:solidFill>
                <a:schemeClr val="dk1"/>
              </a:solidFill>
              <a:latin typeface="Inter"/>
              <a:ea typeface="Inter"/>
              <a:cs typeface="Inter"/>
              <a:sym typeface="Inter"/>
            </a:endParaRPr>
          </a:p>
        </p:txBody>
      </p:sp>
      <p:sp>
        <p:nvSpPr>
          <p:cNvPr id="344" name="Google Shape;344;p15"/>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Diapositiva de respaldo para preguntas; fuera del tiempo de exposición</a:t>
            </a:r>
            <a:endParaRPr b="0" i="0" sz="1350" u="none" cap="none" strike="noStrike">
              <a:solidFill>
                <a:schemeClr val="dk1"/>
              </a:solidFill>
              <a:latin typeface="Inter"/>
              <a:ea typeface="Inter"/>
              <a:cs typeface="Inter"/>
              <a:sym typeface="Inter"/>
            </a:endParaRPr>
          </a:p>
        </p:txBody>
      </p:sp>
      <p:sp>
        <p:nvSpPr>
          <p:cNvPr id="345" name="Google Shape;345;p15"/>
          <p:cNvSpPr/>
          <p:nvPr/>
        </p:nvSpPr>
        <p:spPr>
          <a:xfrm>
            <a:off x="676656" y="1911096"/>
            <a:ext cx="5641848" cy="4050792"/>
          </a:xfrm>
          <a:prstGeom prst="roundRect">
            <a:avLst>
              <a:gd fmla="val 4063"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950976" y="2203704"/>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600"/>
              <a:buFont typeface="Inter"/>
              <a:buNone/>
            </a:pPr>
            <a:r>
              <a:rPr b="0" i="0" lang="en-US" sz="1600" u="none" cap="none" strike="noStrike">
                <a:solidFill>
                  <a:srgbClr val="20D9B2"/>
                </a:solidFill>
                <a:latin typeface="Inter"/>
                <a:ea typeface="Inter"/>
                <a:cs typeface="Inter"/>
                <a:sym typeface="Inter"/>
              </a:rPr>
              <a:t>app.py  ·  Streamlit</a:t>
            </a:r>
            <a:endParaRPr b="0" i="0" sz="1600" u="none" cap="none" strike="noStrike">
              <a:solidFill>
                <a:schemeClr val="dk1"/>
              </a:solidFill>
              <a:latin typeface="Inter"/>
              <a:ea typeface="Inter"/>
              <a:cs typeface="Inter"/>
              <a:sym typeface="Inter"/>
            </a:endParaRPr>
          </a:p>
        </p:txBody>
      </p:sp>
      <p:sp>
        <p:nvSpPr>
          <p:cNvPr id="347" name="Google Shape;347;p15"/>
          <p:cNvSpPr/>
          <p:nvPr/>
        </p:nvSpPr>
        <p:spPr>
          <a:xfrm>
            <a:off x="950976" y="2743200"/>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600"/>
              <a:buFont typeface="Inter"/>
              <a:buNone/>
            </a:pPr>
            <a:r>
              <a:rPr b="0" i="0" lang="en-US" sz="1600" u="none" cap="none" strike="noStrike">
                <a:solidFill>
                  <a:srgbClr val="20D9B2"/>
                </a:solidFill>
                <a:latin typeface="Inter"/>
                <a:ea typeface="Inter"/>
                <a:cs typeface="Inter"/>
                <a:sym typeface="Inter"/>
              </a:rPr>
              <a:t>main.py  ·  CLI</a:t>
            </a:r>
            <a:endParaRPr b="0" i="0" sz="1600" u="none" cap="none" strike="noStrike">
              <a:solidFill>
                <a:schemeClr val="dk1"/>
              </a:solidFill>
              <a:latin typeface="Inter"/>
              <a:ea typeface="Inter"/>
              <a:cs typeface="Inter"/>
              <a:sym typeface="Inter"/>
            </a:endParaRPr>
          </a:p>
        </p:txBody>
      </p:sp>
      <p:sp>
        <p:nvSpPr>
          <p:cNvPr id="348" name="Google Shape;348;p15"/>
          <p:cNvSpPr/>
          <p:nvPr/>
        </p:nvSpPr>
        <p:spPr>
          <a:xfrm>
            <a:off x="950976" y="3282696"/>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src/agent.py  ·  contrato público</a:t>
            </a:r>
            <a:endParaRPr b="0" i="0" sz="1600" u="none" cap="none" strike="noStrike">
              <a:solidFill>
                <a:schemeClr val="dk1"/>
              </a:solidFill>
              <a:latin typeface="Inter"/>
              <a:ea typeface="Inter"/>
              <a:cs typeface="Inter"/>
              <a:sym typeface="Inter"/>
            </a:endParaRPr>
          </a:p>
        </p:txBody>
      </p:sp>
      <p:sp>
        <p:nvSpPr>
          <p:cNvPr id="349" name="Google Shape;349;p15"/>
          <p:cNvSpPr/>
          <p:nvPr/>
        </p:nvSpPr>
        <p:spPr>
          <a:xfrm>
            <a:off x="950976" y="3822192"/>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src/graph.py + nodes.py  ·  LangGraph</a:t>
            </a:r>
            <a:endParaRPr b="0" i="0" sz="1600" u="none" cap="none" strike="noStrike">
              <a:solidFill>
                <a:schemeClr val="dk1"/>
              </a:solidFill>
              <a:latin typeface="Inter"/>
              <a:ea typeface="Inter"/>
              <a:cs typeface="Inter"/>
              <a:sym typeface="Inter"/>
            </a:endParaRPr>
          </a:p>
        </p:txBody>
      </p:sp>
      <p:sp>
        <p:nvSpPr>
          <p:cNvPr id="350" name="Google Shape;350;p15"/>
          <p:cNvSpPr/>
          <p:nvPr/>
        </p:nvSpPr>
        <p:spPr>
          <a:xfrm>
            <a:off x="950976" y="4361688"/>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src/tools/  ·  tool registry</a:t>
            </a:r>
            <a:endParaRPr b="0" i="0" sz="1600" u="none" cap="none" strike="noStrike">
              <a:solidFill>
                <a:schemeClr val="dk1"/>
              </a:solidFill>
              <a:latin typeface="Inter"/>
              <a:ea typeface="Inter"/>
              <a:cs typeface="Inter"/>
              <a:sym typeface="Inter"/>
            </a:endParaRPr>
          </a:p>
        </p:txBody>
      </p:sp>
      <p:sp>
        <p:nvSpPr>
          <p:cNvPr id="351" name="Google Shape;351;p15"/>
          <p:cNvSpPr/>
          <p:nvPr/>
        </p:nvSpPr>
        <p:spPr>
          <a:xfrm>
            <a:off x="950976" y="4901184"/>
            <a:ext cx="51663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specs/ + tests/ + entregables/  ·  SDD y evidencia</a:t>
            </a:r>
            <a:endParaRPr b="0" i="0" sz="1600" u="none" cap="none" strike="noStrike">
              <a:solidFill>
                <a:schemeClr val="dk1"/>
              </a:solidFill>
              <a:latin typeface="Inter"/>
              <a:ea typeface="Inter"/>
              <a:cs typeface="Inter"/>
              <a:sym typeface="Inter"/>
            </a:endParaRPr>
          </a:p>
        </p:txBody>
      </p:sp>
      <p:sp>
        <p:nvSpPr>
          <p:cNvPr id="352" name="Google Shape;352;p15"/>
          <p:cNvSpPr/>
          <p:nvPr/>
        </p:nvSpPr>
        <p:spPr>
          <a:xfrm>
            <a:off x="6620256" y="1911096"/>
            <a:ext cx="4901184" cy="4050792"/>
          </a:xfrm>
          <a:prstGeom prst="roundRect">
            <a:avLst>
              <a:gd fmla="val 4063"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6931152" y="2258568"/>
            <a:ext cx="4297680" cy="3383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FE6D"/>
              </a:buClr>
              <a:buSzPts val="2000"/>
              <a:buFont typeface="Inter"/>
              <a:buNone/>
            </a:pPr>
            <a:r>
              <a:rPr b="1" i="0" lang="en-US" sz="2000" u="none" cap="none" strike="noStrike">
                <a:solidFill>
                  <a:srgbClr val="B8FE6D"/>
                </a:solidFill>
                <a:latin typeface="Inter"/>
                <a:ea typeface="Inter"/>
                <a:cs typeface="Inter"/>
                <a:sym typeface="Inter"/>
              </a:rPr>
              <a:t>COMANDOS</a:t>
            </a:r>
            <a:endParaRPr b="0" i="0" sz="2000" u="none" cap="none" strike="noStrike">
              <a:solidFill>
                <a:schemeClr val="dk1"/>
              </a:solidFill>
              <a:latin typeface="Inter"/>
              <a:ea typeface="Inter"/>
              <a:cs typeface="Inter"/>
              <a:sym typeface="Inter"/>
            </a:endParaRPr>
          </a:p>
        </p:txBody>
      </p:sp>
      <p:sp>
        <p:nvSpPr>
          <p:cNvPr id="354" name="Google Shape;354;p15"/>
          <p:cNvSpPr/>
          <p:nvPr/>
        </p:nvSpPr>
        <p:spPr>
          <a:xfrm>
            <a:off x="6903720" y="2852928"/>
            <a:ext cx="437083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520"/>
              <a:buFont typeface="Consolas"/>
              <a:buNone/>
            </a:pPr>
            <a:r>
              <a:rPr b="0" i="0" lang="en-US" sz="1520" u="none" cap="none" strike="noStrike">
                <a:solidFill>
                  <a:srgbClr val="F3F8FB"/>
                </a:solidFill>
                <a:latin typeface="Consolas"/>
                <a:ea typeface="Consolas"/>
                <a:cs typeface="Consolas"/>
                <a:sym typeface="Consolas"/>
              </a:rPr>
              <a:t>python main.py rag index --yes</a:t>
            </a:r>
            <a:endParaRPr b="0" i="0" sz="1520" u="none" cap="none" strike="noStrike">
              <a:solidFill>
                <a:schemeClr val="dk1"/>
              </a:solidFill>
              <a:latin typeface="Inter"/>
              <a:ea typeface="Inter"/>
              <a:cs typeface="Inter"/>
              <a:sym typeface="Inter"/>
            </a:endParaRPr>
          </a:p>
        </p:txBody>
      </p:sp>
      <p:sp>
        <p:nvSpPr>
          <p:cNvPr id="355" name="Google Shape;355;p15"/>
          <p:cNvSpPr/>
          <p:nvPr/>
        </p:nvSpPr>
        <p:spPr>
          <a:xfrm>
            <a:off x="6903720" y="3493008"/>
            <a:ext cx="437083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520"/>
              <a:buFont typeface="Consolas"/>
              <a:buNone/>
            </a:pPr>
            <a:r>
              <a:rPr b="0" i="0" lang="en-US" sz="1520" u="none" cap="none" strike="noStrike">
                <a:solidFill>
                  <a:srgbClr val="F3F8FB"/>
                </a:solidFill>
                <a:latin typeface="Consolas"/>
                <a:ea typeface="Consolas"/>
                <a:cs typeface="Consolas"/>
                <a:sym typeface="Consolas"/>
              </a:rPr>
              <a:t>python main.py agente interactivo</a:t>
            </a:r>
            <a:endParaRPr b="0" i="0" sz="1520" u="none" cap="none" strike="noStrike">
              <a:solidFill>
                <a:schemeClr val="dk1"/>
              </a:solidFill>
              <a:latin typeface="Inter"/>
              <a:ea typeface="Inter"/>
              <a:cs typeface="Inter"/>
              <a:sym typeface="Inter"/>
            </a:endParaRPr>
          </a:p>
        </p:txBody>
      </p:sp>
      <p:sp>
        <p:nvSpPr>
          <p:cNvPr id="356" name="Google Shape;356;p15"/>
          <p:cNvSpPr/>
          <p:nvPr/>
        </p:nvSpPr>
        <p:spPr>
          <a:xfrm>
            <a:off x="6903720" y="4133088"/>
            <a:ext cx="437083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520"/>
              <a:buFont typeface="Consolas"/>
              <a:buNone/>
            </a:pPr>
            <a:r>
              <a:rPr b="0" i="0" lang="en-US" sz="1520" u="none" cap="none" strike="noStrike">
                <a:solidFill>
                  <a:srgbClr val="F3F8FB"/>
                </a:solidFill>
                <a:latin typeface="Consolas"/>
                <a:ea typeface="Consolas"/>
                <a:cs typeface="Consolas"/>
                <a:sym typeface="Consolas"/>
              </a:rPr>
              <a:t>python -m streamlit run app.py</a:t>
            </a:r>
            <a:endParaRPr b="0" i="0" sz="1520" u="none" cap="none" strike="noStrike">
              <a:solidFill>
                <a:schemeClr val="dk1"/>
              </a:solidFill>
              <a:latin typeface="Inter"/>
              <a:ea typeface="Inter"/>
              <a:cs typeface="Inter"/>
              <a:sym typeface="Inter"/>
            </a:endParaRPr>
          </a:p>
        </p:txBody>
      </p:sp>
      <p:sp>
        <p:nvSpPr>
          <p:cNvPr id="357" name="Google Shape;357;p15"/>
          <p:cNvSpPr/>
          <p:nvPr/>
        </p:nvSpPr>
        <p:spPr>
          <a:xfrm>
            <a:off x="6903720" y="4773168"/>
            <a:ext cx="4370832"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520"/>
              <a:buFont typeface="Consolas"/>
              <a:buNone/>
            </a:pPr>
            <a:r>
              <a:rPr b="0" i="0" lang="en-US" sz="1520" u="none" cap="none" strike="noStrike">
                <a:solidFill>
                  <a:srgbClr val="F3F8FB"/>
                </a:solidFill>
                <a:latin typeface="Consolas"/>
                <a:ea typeface="Consolas"/>
                <a:cs typeface="Consolas"/>
                <a:sym typeface="Consolas"/>
              </a:rPr>
              <a:t>python -m pytest tests/ -q --tb=short</a:t>
            </a:r>
            <a:endParaRPr b="0" i="0" sz="1520" u="none" cap="none" strike="noStrike">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1F"/>
        </a:solidFill>
      </p:bgPr>
    </p:bg>
    <p:spTree>
      <p:nvGrpSpPr>
        <p:cNvPr id="362" name="Shape 362"/>
        <p:cNvGrpSpPr/>
        <p:nvPr/>
      </p:nvGrpSpPr>
      <p:grpSpPr>
        <a:xfrm>
          <a:off x="0" y="0"/>
          <a:ext cx="0" cy="0"/>
          <a:chOff x="0" y="0"/>
          <a:chExt cx="0" cy="0"/>
        </a:xfrm>
      </p:grpSpPr>
      <p:cxnSp>
        <p:nvCxnSpPr>
          <p:cNvPr id="363" name="Google Shape;363;p16"/>
          <p:cNvCxnSpPr/>
          <p:nvPr/>
        </p:nvCxnSpPr>
        <p:spPr>
          <a:xfrm>
            <a:off x="676656" y="6565392"/>
            <a:ext cx="10835640" cy="0"/>
          </a:xfrm>
          <a:prstGeom prst="straightConnector1">
            <a:avLst/>
          </a:prstGeom>
          <a:noFill/>
          <a:ln cap="flat" cmpd="sng" w="12700">
            <a:solidFill>
              <a:srgbClr val="2A4156"/>
            </a:solidFill>
            <a:prstDash val="solid"/>
            <a:round/>
            <a:headEnd len="sm" w="sm" type="none"/>
            <a:tailEnd len="sm" w="sm" type="none"/>
          </a:ln>
        </p:spPr>
      </p:cxnSp>
      <p:sp>
        <p:nvSpPr>
          <p:cNvPr id="364" name="Google Shape;364;p16"/>
          <p:cNvSpPr/>
          <p:nvPr/>
        </p:nvSpPr>
        <p:spPr>
          <a:xfrm>
            <a:off x="685800" y="6601968"/>
            <a:ext cx="3017520" cy="1371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899DB0"/>
              </a:buClr>
              <a:buSzPts val="839"/>
              <a:buFont typeface="Inter"/>
              <a:buNone/>
            </a:pPr>
            <a:r>
              <a:rPr b="1" i="0" lang="en-US" sz="840" u="none" cap="none" strike="noStrike">
                <a:solidFill>
                  <a:srgbClr val="899DB0"/>
                </a:solidFill>
                <a:latin typeface="Inter"/>
                <a:ea typeface="Inter"/>
                <a:cs typeface="Inter"/>
                <a:sym typeface="Inter"/>
              </a:rPr>
              <a:t>RECICLATIA  /  PB02</a:t>
            </a:r>
            <a:endParaRPr b="0" i="0" sz="840" u="none" cap="none" strike="noStrike">
              <a:solidFill>
                <a:schemeClr val="dk1"/>
              </a:solidFill>
              <a:latin typeface="Inter"/>
              <a:ea typeface="Inter"/>
              <a:cs typeface="Inter"/>
              <a:sym typeface="Inter"/>
            </a:endParaRPr>
          </a:p>
        </p:txBody>
      </p:sp>
      <p:sp>
        <p:nvSpPr>
          <p:cNvPr id="365" name="Google Shape;365;p16"/>
          <p:cNvSpPr/>
          <p:nvPr/>
        </p:nvSpPr>
        <p:spPr>
          <a:xfrm>
            <a:off x="9738360" y="6601968"/>
            <a:ext cx="1755648" cy="13716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899DB0"/>
              </a:buClr>
              <a:buSzPts val="839"/>
              <a:buFont typeface="Inter"/>
              <a:buNone/>
            </a:pPr>
            <a:r>
              <a:rPr b="0" i="0" lang="en-US" sz="840" u="none" cap="none" strike="noStrike">
                <a:solidFill>
                  <a:srgbClr val="899DB0"/>
                </a:solidFill>
                <a:latin typeface="Inter"/>
                <a:ea typeface="Inter"/>
                <a:cs typeface="Inter"/>
                <a:sym typeface="Inter"/>
              </a:rPr>
              <a:t>ANEXO OPCIONAL</a:t>
            </a:r>
            <a:endParaRPr b="0" i="0" sz="840" u="none" cap="none" strike="noStrike">
              <a:solidFill>
                <a:schemeClr val="dk1"/>
              </a:solidFill>
              <a:latin typeface="Inter"/>
              <a:ea typeface="Inter"/>
              <a:cs typeface="Inter"/>
              <a:sym typeface="Inter"/>
            </a:endParaRPr>
          </a:p>
        </p:txBody>
      </p:sp>
      <p:sp>
        <p:nvSpPr>
          <p:cNvPr id="366" name="Google Shape;366;p16"/>
          <p:cNvSpPr/>
          <p:nvPr/>
        </p:nvSpPr>
        <p:spPr>
          <a:xfrm>
            <a:off x="685800" y="393192"/>
            <a:ext cx="96012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050"/>
              <a:buFont typeface="Inter"/>
              <a:buNone/>
            </a:pPr>
            <a:r>
              <a:rPr b="1" i="0" lang="en-US" sz="1050" u="none" cap="none" strike="noStrike">
                <a:solidFill>
                  <a:srgbClr val="20D9B2"/>
                </a:solidFill>
                <a:latin typeface="Inter"/>
                <a:ea typeface="Inter"/>
                <a:cs typeface="Inter"/>
                <a:sym typeface="Inter"/>
              </a:rPr>
              <a:t>MATERIAL DE APOYO</a:t>
            </a:r>
            <a:endParaRPr b="0" i="0" sz="1050" u="none" cap="none" strike="noStrike">
              <a:solidFill>
                <a:schemeClr val="dk1"/>
              </a:solidFill>
              <a:latin typeface="Inter"/>
              <a:ea typeface="Inter"/>
              <a:cs typeface="Inter"/>
              <a:sym typeface="Inter"/>
            </a:endParaRPr>
          </a:p>
        </p:txBody>
      </p:sp>
      <p:sp>
        <p:nvSpPr>
          <p:cNvPr id="367" name="Google Shape;367;p16"/>
          <p:cNvSpPr/>
          <p:nvPr/>
        </p:nvSpPr>
        <p:spPr>
          <a:xfrm>
            <a:off x="685800" y="722376"/>
            <a:ext cx="10789920" cy="5943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3150"/>
              <a:buFont typeface="Inter"/>
              <a:buNone/>
            </a:pPr>
            <a:r>
              <a:rPr b="1" i="0" lang="en-US" sz="3150" u="none" cap="none" strike="noStrike">
                <a:solidFill>
                  <a:srgbClr val="F3F8FB"/>
                </a:solidFill>
                <a:latin typeface="Inter"/>
                <a:ea typeface="Inter"/>
                <a:cs typeface="Inter"/>
                <a:sym typeface="Inter"/>
              </a:rPr>
              <a:t>Matriz de aceptación técnica</a:t>
            </a:r>
            <a:endParaRPr b="0" i="0" sz="3150" u="none" cap="none" strike="noStrike">
              <a:solidFill>
                <a:schemeClr val="dk1"/>
              </a:solidFill>
              <a:latin typeface="Inter"/>
              <a:ea typeface="Inter"/>
              <a:cs typeface="Inter"/>
              <a:sym typeface="Inter"/>
            </a:endParaRPr>
          </a:p>
        </p:txBody>
      </p:sp>
      <p:sp>
        <p:nvSpPr>
          <p:cNvPr id="368" name="Google Shape;368;p16"/>
          <p:cNvSpPr/>
          <p:nvPr/>
        </p:nvSpPr>
        <p:spPr>
          <a:xfrm>
            <a:off x="704088" y="1325880"/>
            <a:ext cx="10652760" cy="35661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AD5"/>
              </a:buClr>
              <a:buSzPts val="1350"/>
              <a:buFont typeface="Inter"/>
              <a:buNone/>
            </a:pPr>
            <a:r>
              <a:rPr b="0" i="0" lang="en-US" sz="1350" u="none" cap="none" strike="noStrike">
                <a:solidFill>
                  <a:srgbClr val="B8CAD5"/>
                </a:solidFill>
                <a:latin typeface="Inter"/>
                <a:ea typeface="Inter"/>
                <a:cs typeface="Inter"/>
                <a:sym typeface="Inter"/>
              </a:rPr>
              <a:t>Contratos comprobables, no métricas de ejecución inventadas</a:t>
            </a:r>
            <a:endParaRPr b="0" i="0" sz="1350" u="none" cap="none" strike="noStrike">
              <a:solidFill>
                <a:schemeClr val="dk1"/>
              </a:solidFill>
              <a:latin typeface="Inter"/>
              <a:ea typeface="Inter"/>
              <a:cs typeface="Inter"/>
              <a:sym typeface="Inter"/>
            </a:endParaRPr>
          </a:p>
        </p:txBody>
      </p:sp>
      <p:sp>
        <p:nvSpPr>
          <p:cNvPr id="369" name="Google Shape;369;p16"/>
          <p:cNvSpPr/>
          <p:nvPr/>
        </p:nvSpPr>
        <p:spPr>
          <a:xfrm>
            <a:off x="704088" y="1874520"/>
            <a:ext cx="10716768" cy="4160520"/>
          </a:xfrm>
          <a:prstGeom prst="roundRect">
            <a:avLst>
              <a:gd fmla="val 3956" name="adj"/>
            </a:avLst>
          </a:prstGeom>
          <a:solidFill>
            <a:srgbClr val="132339"/>
          </a:solidFill>
          <a:ln cap="flat" cmpd="sng" w="12700">
            <a:solidFill>
              <a:srgbClr val="13233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1033272" y="2148840"/>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1" i="0" lang="en-US" sz="1600" u="none" cap="none" strike="noStrike">
                <a:solidFill>
                  <a:srgbClr val="F3F8FB"/>
                </a:solidFill>
                <a:latin typeface="Inter"/>
                <a:ea typeface="Inter"/>
                <a:cs typeface="Inter"/>
                <a:sym typeface="Inter"/>
              </a:rPr>
              <a:t>Supervisor / 2 especialistas</a:t>
            </a:r>
            <a:endParaRPr b="0" i="0" sz="1600" u="none" cap="none" strike="noStrike">
              <a:solidFill>
                <a:schemeClr val="dk1"/>
              </a:solidFill>
              <a:latin typeface="Inter"/>
              <a:ea typeface="Inter"/>
              <a:cs typeface="Inter"/>
              <a:sym typeface="Inter"/>
            </a:endParaRPr>
          </a:p>
        </p:txBody>
      </p:sp>
      <p:sp>
        <p:nvSpPr>
          <p:cNvPr id="371" name="Google Shape;371;p16"/>
          <p:cNvSpPr/>
          <p:nvPr/>
        </p:nvSpPr>
        <p:spPr>
          <a:xfrm>
            <a:off x="6263640" y="2148840"/>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tests/test_agent_regression.py</a:t>
            </a:r>
            <a:endParaRPr b="0" i="0" sz="1450" u="none" cap="none" strike="noStrike">
              <a:solidFill>
                <a:schemeClr val="dk1"/>
              </a:solidFill>
              <a:latin typeface="Inter"/>
              <a:ea typeface="Inter"/>
              <a:cs typeface="Inter"/>
              <a:sym typeface="Inter"/>
            </a:endParaRPr>
          </a:p>
        </p:txBody>
      </p:sp>
      <p:cxnSp>
        <p:nvCxnSpPr>
          <p:cNvPr id="372" name="Google Shape;372;p16"/>
          <p:cNvCxnSpPr/>
          <p:nvPr/>
        </p:nvCxnSpPr>
        <p:spPr>
          <a:xfrm>
            <a:off x="1014984" y="2569464"/>
            <a:ext cx="10021824" cy="0"/>
          </a:xfrm>
          <a:prstGeom prst="straightConnector1">
            <a:avLst/>
          </a:prstGeom>
          <a:noFill/>
          <a:ln cap="flat" cmpd="sng" w="9525">
            <a:solidFill>
              <a:srgbClr val="2A4156"/>
            </a:solidFill>
            <a:prstDash val="solid"/>
            <a:round/>
            <a:headEnd len="sm" w="sm" type="none"/>
            <a:tailEnd len="sm" w="sm" type="none"/>
          </a:ln>
        </p:spPr>
      </p:cxnSp>
      <p:sp>
        <p:nvSpPr>
          <p:cNvPr id="373" name="Google Shape;373;p16"/>
          <p:cNvSpPr/>
          <p:nvPr/>
        </p:nvSpPr>
        <p:spPr>
          <a:xfrm>
            <a:off x="1033272" y="2670048"/>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HITL aprobar / rechazar</a:t>
            </a:r>
            <a:endParaRPr b="0" i="0" sz="1600" u="none" cap="none" strike="noStrike">
              <a:solidFill>
                <a:schemeClr val="dk1"/>
              </a:solidFill>
              <a:latin typeface="Inter"/>
              <a:ea typeface="Inter"/>
              <a:cs typeface="Inter"/>
              <a:sym typeface="Inter"/>
            </a:endParaRPr>
          </a:p>
        </p:txBody>
      </p:sp>
      <p:sp>
        <p:nvSpPr>
          <p:cNvPr id="374" name="Google Shape;374;p16"/>
          <p:cNvSpPr/>
          <p:nvPr/>
        </p:nvSpPr>
        <p:spPr>
          <a:xfrm>
            <a:off x="6263640" y="2670048"/>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tests/test_agent_regression.py</a:t>
            </a:r>
            <a:endParaRPr b="0" i="0" sz="1450" u="none" cap="none" strike="noStrike">
              <a:solidFill>
                <a:schemeClr val="dk1"/>
              </a:solidFill>
              <a:latin typeface="Inter"/>
              <a:ea typeface="Inter"/>
              <a:cs typeface="Inter"/>
              <a:sym typeface="Inter"/>
            </a:endParaRPr>
          </a:p>
        </p:txBody>
      </p:sp>
      <p:cxnSp>
        <p:nvCxnSpPr>
          <p:cNvPr id="375" name="Google Shape;375;p16"/>
          <p:cNvCxnSpPr/>
          <p:nvPr/>
        </p:nvCxnSpPr>
        <p:spPr>
          <a:xfrm>
            <a:off x="1014984" y="3090672"/>
            <a:ext cx="10021824" cy="0"/>
          </a:xfrm>
          <a:prstGeom prst="straightConnector1">
            <a:avLst/>
          </a:prstGeom>
          <a:noFill/>
          <a:ln cap="flat" cmpd="sng" w="9525">
            <a:solidFill>
              <a:srgbClr val="2A4156"/>
            </a:solidFill>
            <a:prstDash val="solid"/>
            <a:round/>
            <a:headEnd len="sm" w="sm" type="none"/>
            <a:tailEnd len="sm" w="sm" type="none"/>
          </a:ln>
        </p:spPr>
      </p:cxnSp>
      <p:sp>
        <p:nvSpPr>
          <p:cNvPr id="376" name="Google Shape;376;p16"/>
          <p:cNvSpPr/>
          <p:nvPr/>
        </p:nvSpPr>
        <p:spPr>
          <a:xfrm>
            <a:off x="1033272" y="3191256"/>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Tools y permisos</a:t>
            </a:r>
            <a:endParaRPr b="0" i="0" sz="1600" u="none" cap="none" strike="noStrike">
              <a:solidFill>
                <a:schemeClr val="dk1"/>
              </a:solidFill>
              <a:latin typeface="Inter"/>
              <a:ea typeface="Inter"/>
              <a:cs typeface="Inter"/>
              <a:sym typeface="Inter"/>
            </a:endParaRPr>
          </a:p>
        </p:txBody>
      </p:sp>
      <p:sp>
        <p:nvSpPr>
          <p:cNvPr id="377" name="Google Shape;377;p16"/>
          <p:cNvSpPr/>
          <p:nvPr/>
        </p:nvSpPr>
        <p:spPr>
          <a:xfrm>
            <a:off x="6263640" y="3191256"/>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tests/test_tools_registry.py</a:t>
            </a:r>
            <a:endParaRPr b="0" i="0" sz="1450" u="none" cap="none" strike="noStrike">
              <a:solidFill>
                <a:schemeClr val="dk1"/>
              </a:solidFill>
              <a:latin typeface="Inter"/>
              <a:ea typeface="Inter"/>
              <a:cs typeface="Inter"/>
              <a:sym typeface="Inter"/>
            </a:endParaRPr>
          </a:p>
        </p:txBody>
      </p:sp>
      <p:cxnSp>
        <p:nvCxnSpPr>
          <p:cNvPr id="378" name="Google Shape;378;p16"/>
          <p:cNvCxnSpPr/>
          <p:nvPr/>
        </p:nvCxnSpPr>
        <p:spPr>
          <a:xfrm>
            <a:off x="1014984" y="3611880"/>
            <a:ext cx="10021824" cy="0"/>
          </a:xfrm>
          <a:prstGeom prst="straightConnector1">
            <a:avLst/>
          </a:prstGeom>
          <a:noFill/>
          <a:ln cap="flat" cmpd="sng" w="9525">
            <a:solidFill>
              <a:srgbClr val="2A4156"/>
            </a:solidFill>
            <a:prstDash val="solid"/>
            <a:round/>
            <a:headEnd len="sm" w="sm" type="none"/>
            <a:tailEnd len="sm" w="sm" type="none"/>
          </a:ln>
        </p:spPr>
      </p:cxnSp>
      <p:sp>
        <p:nvSpPr>
          <p:cNvPr id="379" name="Google Shape;379;p16"/>
          <p:cNvSpPr/>
          <p:nvPr/>
        </p:nvSpPr>
        <p:spPr>
          <a:xfrm>
            <a:off x="1033272" y="3712464"/>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API + fallback</a:t>
            </a:r>
            <a:endParaRPr b="0" i="0" sz="1600" u="none" cap="none" strike="noStrike">
              <a:solidFill>
                <a:schemeClr val="dk1"/>
              </a:solidFill>
              <a:latin typeface="Inter"/>
              <a:ea typeface="Inter"/>
              <a:cs typeface="Inter"/>
              <a:sym typeface="Inter"/>
            </a:endParaRPr>
          </a:p>
        </p:txBody>
      </p:sp>
      <p:sp>
        <p:nvSpPr>
          <p:cNvPr id="380" name="Google Shape;380;p16"/>
          <p:cNvSpPr/>
          <p:nvPr/>
        </p:nvSpPr>
        <p:spPr>
          <a:xfrm>
            <a:off x="6263640" y="3712464"/>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tests/test_api_puntos_limpios.py</a:t>
            </a:r>
            <a:endParaRPr b="0" i="0" sz="1450" u="none" cap="none" strike="noStrike">
              <a:solidFill>
                <a:schemeClr val="dk1"/>
              </a:solidFill>
              <a:latin typeface="Inter"/>
              <a:ea typeface="Inter"/>
              <a:cs typeface="Inter"/>
              <a:sym typeface="Inter"/>
            </a:endParaRPr>
          </a:p>
        </p:txBody>
      </p:sp>
      <p:cxnSp>
        <p:nvCxnSpPr>
          <p:cNvPr id="381" name="Google Shape;381;p16"/>
          <p:cNvCxnSpPr/>
          <p:nvPr/>
        </p:nvCxnSpPr>
        <p:spPr>
          <a:xfrm>
            <a:off x="1014984" y="4133088"/>
            <a:ext cx="10021824" cy="0"/>
          </a:xfrm>
          <a:prstGeom prst="straightConnector1">
            <a:avLst/>
          </a:prstGeom>
          <a:noFill/>
          <a:ln cap="flat" cmpd="sng" w="9525">
            <a:solidFill>
              <a:srgbClr val="2A4156"/>
            </a:solidFill>
            <a:prstDash val="solid"/>
            <a:round/>
            <a:headEnd len="sm" w="sm" type="none"/>
            <a:tailEnd len="sm" w="sm" type="none"/>
          </a:ln>
        </p:spPr>
      </p:cxnSp>
      <p:sp>
        <p:nvSpPr>
          <p:cNvPr id="382" name="Google Shape;382;p16"/>
          <p:cNvSpPr/>
          <p:nvPr/>
        </p:nvSpPr>
        <p:spPr>
          <a:xfrm>
            <a:off x="1033272" y="4233672"/>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Horarios documentados</a:t>
            </a:r>
            <a:endParaRPr b="0" i="0" sz="1600" u="none" cap="none" strike="noStrike">
              <a:solidFill>
                <a:schemeClr val="dk1"/>
              </a:solidFill>
              <a:latin typeface="Inter"/>
              <a:ea typeface="Inter"/>
              <a:cs typeface="Inter"/>
              <a:sym typeface="Inter"/>
            </a:endParaRPr>
          </a:p>
        </p:txBody>
      </p:sp>
      <p:sp>
        <p:nvSpPr>
          <p:cNvPr id="383" name="Google Shape;383;p16"/>
          <p:cNvSpPr/>
          <p:nvPr/>
        </p:nvSpPr>
        <p:spPr>
          <a:xfrm>
            <a:off x="6263640" y="4233672"/>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tests/test_agent_schedule*.py</a:t>
            </a:r>
            <a:endParaRPr b="0" i="0" sz="1450" u="none" cap="none" strike="noStrike">
              <a:solidFill>
                <a:schemeClr val="dk1"/>
              </a:solidFill>
              <a:latin typeface="Inter"/>
              <a:ea typeface="Inter"/>
              <a:cs typeface="Inter"/>
              <a:sym typeface="Inter"/>
            </a:endParaRPr>
          </a:p>
        </p:txBody>
      </p:sp>
      <p:cxnSp>
        <p:nvCxnSpPr>
          <p:cNvPr id="384" name="Google Shape;384;p16"/>
          <p:cNvCxnSpPr/>
          <p:nvPr/>
        </p:nvCxnSpPr>
        <p:spPr>
          <a:xfrm>
            <a:off x="1014984" y="4654296"/>
            <a:ext cx="10021824" cy="0"/>
          </a:xfrm>
          <a:prstGeom prst="straightConnector1">
            <a:avLst/>
          </a:prstGeom>
          <a:noFill/>
          <a:ln cap="flat" cmpd="sng" w="9525">
            <a:solidFill>
              <a:srgbClr val="2A4156"/>
            </a:solidFill>
            <a:prstDash val="solid"/>
            <a:round/>
            <a:headEnd len="sm" w="sm" type="none"/>
            <a:tailEnd len="sm" w="sm" type="none"/>
          </a:ln>
        </p:spPr>
      </p:cxnSp>
      <p:sp>
        <p:nvSpPr>
          <p:cNvPr id="385" name="Google Shape;385;p16"/>
          <p:cNvSpPr/>
          <p:nvPr/>
        </p:nvSpPr>
        <p:spPr>
          <a:xfrm>
            <a:off x="1033272" y="4754880"/>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Multimodal y formatos</a:t>
            </a:r>
            <a:endParaRPr b="0" i="0" sz="1600" u="none" cap="none" strike="noStrike">
              <a:solidFill>
                <a:schemeClr val="dk1"/>
              </a:solidFill>
              <a:latin typeface="Inter"/>
              <a:ea typeface="Inter"/>
              <a:cs typeface="Inter"/>
              <a:sym typeface="Inter"/>
            </a:endParaRPr>
          </a:p>
        </p:txBody>
      </p:sp>
      <p:sp>
        <p:nvSpPr>
          <p:cNvPr id="386" name="Google Shape;386;p16"/>
          <p:cNvSpPr/>
          <p:nvPr/>
        </p:nvSpPr>
        <p:spPr>
          <a:xfrm>
            <a:off x="6263640" y="4754880"/>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tests/test_describir_imagen.py</a:t>
            </a:r>
            <a:endParaRPr b="0" i="0" sz="1450" u="none" cap="none" strike="noStrike">
              <a:solidFill>
                <a:schemeClr val="dk1"/>
              </a:solidFill>
              <a:latin typeface="Inter"/>
              <a:ea typeface="Inter"/>
              <a:cs typeface="Inter"/>
              <a:sym typeface="Inter"/>
            </a:endParaRPr>
          </a:p>
        </p:txBody>
      </p:sp>
      <p:cxnSp>
        <p:nvCxnSpPr>
          <p:cNvPr id="387" name="Google Shape;387;p16"/>
          <p:cNvCxnSpPr/>
          <p:nvPr/>
        </p:nvCxnSpPr>
        <p:spPr>
          <a:xfrm>
            <a:off x="1014984" y="5175504"/>
            <a:ext cx="10021824" cy="0"/>
          </a:xfrm>
          <a:prstGeom prst="straightConnector1">
            <a:avLst/>
          </a:prstGeom>
          <a:noFill/>
          <a:ln cap="flat" cmpd="sng" w="9525">
            <a:solidFill>
              <a:srgbClr val="2A4156"/>
            </a:solidFill>
            <a:prstDash val="solid"/>
            <a:round/>
            <a:headEnd len="sm" w="sm" type="none"/>
            <a:tailEnd len="sm" w="sm" type="none"/>
          </a:ln>
        </p:spPr>
      </p:cxnSp>
      <p:sp>
        <p:nvSpPr>
          <p:cNvPr id="388" name="Google Shape;388;p16"/>
          <p:cNvSpPr/>
          <p:nvPr/>
        </p:nvSpPr>
        <p:spPr>
          <a:xfrm>
            <a:off x="1033272" y="5276088"/>
            <a:ext cx="47731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3F8FB"/>
              </a:buClr>
              <a:buSzPts val="1600"/>
              <a:buFont typeface="Inter"/>
              <a:buNone/>
            </a:pPr>
            <a:r>
              <a:rPr b="0" i="0" lang="en-US" sz="1600" u="none" cap="none" strike="noStrike">
                <a:solidFill>
                  <a:srgbClr val="F3F8FB"/>
                </a:solidFill>
                <a:latin typeface="Inter"/>
                <a:ea typeface="Inter"/>
                <a:cs typeface="Inter"/>
                <a:sym typeface="Inter"/>
              </a:rPr>
              <a:t>RAG: abstención y citas</a:t>
            </a:r>
            <a:endParaRPr b="0" i="0" sz="1600" u="none" cap="none" strike="noStrike">
              <a:solidFill>
                <a:schemeClr val="dk1"/>
              </a:solidFill>
              <a:latin typeface="Inter"/>
              <a:ea typeface="Inter"/>
              <a:cs typeface="Inter"/>
              <a:sym typeface="Inter"/>
            </a:endParaRPr>
          </a:p>
        </p:txBody>
      </p:sp>
      <p:sp>
        <p:nvSpPr>
          <p:cNvPr id="389" name="Google Shape;389;p16"/>
          <p:cNvSpPr/>
          <p:nvPr/>
        </p:nvSpPr>
        <p:spPr>
          <a:xfrm>
            <a:off x="6263640" y="5276088"/>
            <a:ext cx="46177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0D9B2"/>
              </a:buClr>
              <a:buSzPts val="1450"/>
              <a:buFont typeface="Consolas"/>
              <a:buNone/>
            </a:pPr>
            <a:r>
              <a:rPr b="0" i="0" lang="en-US" sz="1450" u="none" cap="none" strike="noStrike">
                <a:solidFill>
                  <a:srgbClr val="20D9B2"/>
                </a:solidFill>
                <a:latin typeface="Consolas"/>
                <a:ea typeface="Consolas"/>
                <a:cs typeface="Consolas"/>
                <a:sym typeface="Consolas"/>
              </a:rPr>
              <a:t>tests/test_rag*.py</a:t>
            </a:r>
            <a:endParaRPr b="0" i="0" sz="145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2026-10-27T00:26:30Z</dcterms:created>
  <dc:creator>ReciclaTIA · Proyecto académico</dc:creator>
</cp:coreProperties>
</file>